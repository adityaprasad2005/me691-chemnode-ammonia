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BM Plex Sans"/>
      <p:regular r:id="rId15"/>
      <p:bold r:id="rId16"/>
      <p:italic r:id="rId17"/>
      <p:boldItalic r:id="rId18"/>
    </p:embeddedFont>
    <p:embeddedFont>
      <p:font typeface="Sora SemiBold"/>
      <p:regular r:id="rId19"/>
      <p:bold r:id="rId20"/>
    </p:embeddedFont>
    <p:embeddedFont>
      <p:font typeface="Roboto"/>
      <p:regular r:id="rId21"/>
      <p:bold r:id="rId22"/>
      <p:italic r:id="rId23"/>
      <p:boldItalic r:id="rId24"/>
    </p:embeddedFont>
    <p:embeddedFont>
      <p:font typeface="IBM Plex Sans Medium"/>
      <p:regular r:id="rId25"/>
      <p:bold r:id="rId26"/>
      <p:italic r:id="rId27"/>
      <p:boldItalic r:id="rId28"/>
    </p:embeddedFont>
    <p:embeddedFont>
      <p:font typeface="Sora Light"/>
      <p:regular r:id="rId29"/>
      <p:bold r:id="rId30"/>
    </p:embeddedFont>
    <p:embeddedFont>
      <p:font typeface="Sora ExtraLight"/>
      <p:regular r:id="rId31"/>
      <p:bold r:id="rId32"/>
    </p:embeddedFont>
    <p:embeddedFont>
      <p:font typeface="Sora"/>
      <p:regular r:id="rId33"/>
      <p:bold r:id="rId34"/>
    </p:embeddedFont>
    <p:embeddedFont>
      <p:font typeface="Sora Medium"/>
      <p:regular r:id="rId35"/>
      <p:bold r:id="rId36"/>
    </p:embeddedFont>
    <p:embeddedFont>
      <p:font typeface="IBM Plex Sa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ExtraLight-regular.fntdata"/><Relationship Id="rId30" Type="http://schemas.openxmlformats.org/officeDocument/2006/relationships/font" Target="fonts/SoraLight-bold.fntdata"/><Relationship Id="rId33" Type="http://schemas.openxmlformats.org/officeDocument/2006/relationships/font" Target="fonts/Sora-regular.fntdata"/><Relationship Id="rId32" Type="http://schemas.openxmlformats.org/officeDocument/2006/relationships/font" Target="fonts/SoraExtraLight-bold.fntdata"/><Relationship Id="rId35" Type="http://schemas.openxmlformats.org/officeDocument/2006/relationships/font" Target="fonts/SoraMedium-regular.fntdata"/><Relationship Id="rId34" Type="http://schemas.openxmlformats.org/officeDocument/2006/relationships/font" Target="fonts/Sora-bold.fntdata"/><Relationship Id="rId37" Type="http://schemas.openxmlformats.org/officeDocument/2006/relationships/font" Target="fonts/IBMPlexSansSemiBold-regular.fntdata"/><Relationship Id="rId36" Type="http://schemas.openxmlformats.org/officeDocument/2006/relationships/font" Target="fonts/SoraMedium-bold.fntdata"/><Relationship Id="rId39" Type="http://schemas.openxmlformats.org/officeDocument/2006/relationships/font" Target="fonts/IBMPlexSansSemiBold-italic.fntdata"/><Relationship Id="rId38" Type="http://schemas.openxmlformats.org/officeDocument/2006/relationships/font" Target="fonts/IBMPlexSansSemiBold-bold.fntdata"/><Relationship Id="rId20" Type="http://schemas.openxmlformats.org/officeDocument/2006/relationships/font" Target="fonts/SoraSemiBold-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26" Type="http://schemas.openxmlformats.org/officeDocument/2006/relationships/font" Target="fonts/IBMPlexSansMedium-bold.fntdata"/><Relationship Id="rId25" Type="http://schemas.openxmlformats.org/officeDocument/2006/relationships/font" Target="fonts/IBMPlexSansMedium-regular.fntdata"/><Relationship Id="rId28" Type="http://schemas.openxmlformats.org/officeDocument/2006/relationships/font" Target="fonts/IBMPlexSansMedium-boldItalic.fntdata"/><Relationship Id="rId27" Type="http://schemas.openxmlformats.org/officeDocument/2006/relationships/font" Target="fonts/IBMPlexSansMedium-italic.fntdata"/><Relationship Id="rId29" Type="http://schemas.openxmlformats.org/officeDocument/2006/relationships/font" Target="fonts/SoraLight-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BMPlexSans-regular.fntdata"/><Relationship Id="rId14" Type="http://schemas.openxmlformats.org/officeDocument/2006/relationships/slide" Target="slides/slide9.xml"/><Relationship Id="rId17" Type="http://schemas.openxmlformats.org/officeDocument/2006/relationships/font" Target="fonts/IBMPlexSans-italic.fntdata"/><Relationship Id="rId16" Type="http://schemas.openxmlformats.org/officeDocument/2006/relationships/font" Target="fonts/IBMPlexSans-bold.fntdata"/><Relationship Id="rId19" Type="http://schemas.openxmlformats.org/officeDocument/2006/relationships/font" Target="fonts/SoraSemiBold-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7fae582c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7fae582c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Hii everyone. My name is Aditya Prasad. I am a fourth year ME undergraduate student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7fae582c9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7fae582c9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7fae582c9f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7fae582c9f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highlight>
                  <a:schemeClr val="lt1"/>
                </a:highlight>
                <a:latin typeface="IBM Plex Sans"/>
                <a:ea typeface="IBM Plex Sans"/>
                <a:cs typeface="IBM Plex Sans"/>
                <a:sym typeface="IBM Plex Sans"/>
              </a:rPr>
              <a:t>This is project title: Time Integration of 0D chemical kinetics simulations using NODE ML framework</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rPr lang="en" sz="1050">
                <a:highlight>
                  <a:schemeClr val="lt1"/>
                </a:highlight>
                <a:latin typeface="IBM Plex Sans"/>
                <a:ea typeface="IBM Plex Sans"/>
                <a:cs typeface="IBM Plex Sans"/>
                <a:sym typeface="IBM Plex Sans"/>
              </a:rPr>
              <a:t>For those who dont know: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rPr lang="en" sz="1050">
                <a:highlight>
                  <a:schemeClr val="lt1"/>
                </a:highlight>
                <a:latin typeface="IBM Plex Sans"/>
                <a:ea typeface="IBM Plex Sans"/>
                <a:cs typeface="IBM Plex Sans"/>
                <a:sym typeface="IBM Plex Sans"/>
              </a:rPr>
              <a:t>By 0D chemical kinetics im referring to 0D chemical reactor systems. We </a:t>
            </a:r>
            <a:r>
              <a:rPr lang="en" sz="1050">
                <a:highlight>
                  <a:schemeClr val="lt1"/>
                </a:highlight>
                <a:latin typeface="IBM Plex Sans"/>
                <a:ea typeface="IBM Plex Sans"/>
                <a:cs typeface="IBM Plex Sans"/>
                <a:sym typeface="IBM Plex Sans"/>
              </a:rPr>
              <a:t>consider</a:t>
            </a:r>
            <a:r>
              <a:rPr lang="en" sz="1050">
                <a:highlight>
                  <a:schemeClr val="lt1"/>
                </a:highlight>
                <a:latin typeface="IBM Plex Sans"/>
                <a:ea typeface="IBM Plex Sans"/>
                <a:cs typeface="IBM Plex Sans"/>
                <a:sym typeface="IBM Plex Sans"/>
              </a:rPr>
              <a:t> there 0D systems to be fully homogeneous(physically and chemically). We focus solely on the chemical kinetics and ignore all spatial variations.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rPr lang="en" sz="1050">
                <a:highlight>
                  <a:schemeClr val="lt1"/>
                </a:highlight>
                <a:latin typeface="IBM Plex Sans"/>
                <a:ea typeface="IBM Plex Sans"/>
                <a:cs typeface="IBM Plex Sans"/>
                <a:sym typeface="IBM Plex Sans"/>
              </a:rPr>
              <a:t>Goal: i am trying to successively predict the chemical state of the system using the previous states.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t/>
            </a:r>
            <a:endParaRPr sz="1050">
              <a:highlight>
                <a:schemeClr val="lt1"/>
              </a:highlight>
              <a:latin typeface="IBM Plex Sans"/>
              <a:ea typeface="IBM Plex Sans"/>
              <a:cs typeface="IBM Plex Sans"/>
              <a:sym typeface="IBM Plex Sans"/>
            </a:endParaRPr>
          </a:p>
          <a:p>
            <a:pPr indent="0" lvl="0" marL="0" rtl="0" algn="l">
              <a:spcBef>
                <a:spcPts val="0"/>
              </a:spcBef>
              <a:spcAft>
                <a:spcPts val="0"/>
              </a:spcAft>
              <a:buNone/>
            </a:pPr>
            <a:r>
              <a:rPr lang="en" sz="1050">
                <a:highlight>
                  <a:schemeClr val="lt1"/>
                </a:highlight>
                <a:latin typeface="IBM Plex Sans"/>
                <a:ea typeface="IBM Plex Sans"/>
                <a:cs typeface="IBM Plex Sans"/>
                <a:sym typeface="IBM Plex Sans"/>
              </a:rPr>
              <a:t>I’ll explain the Neural ODEs part later. Firstly i’ll explain the System im are trying to model. </a:t>
            </a:r>
            <a:endParaRPr sz="1050">
              <a:highlight>
                <a:schemeClr val="lt1"/>
              </a:highlight>
              <a:latin typeface="IBM Plex Sans"/>
              <a:ea typeface="IBM Plex Sans"/>
              <a:cs typeface="IBM Plex Sans"/>
              <a:sym typeface="IBM Plex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7fae582c9f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7fae582c9f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State of a 0D chemical system: is composed of all the species mass fractions and the system temperature.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Governing equations: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The first N rows </a:t>
            </a:r>
            <a:r>
              <a:rPr lang="en" sz="1050">
                <a:solidFill>
                  <a:srgbClr val="1F1F1F"/>
                </a:solidFill>
                <a:highlight>
                  <a:srgbClr val="FFFFFF"/>
                </a:highlight>
                <a:latin typeface="Roboto"/>
                <a:ea typeface="Roboto"/>
                <a:cs typeface="Roboto"/>
                <a:sym typeface="Roboto"/>
              </a:rPr>
              <a:t>correspond</a:t>
            </a:r>
            <a:r>
              <a:rPr lang="en" sz="1050">
                <a:solidFill>
                  <a:srgbClr val="1F1F1F"/>
                </a:solidFill>
                <a:highlight>
                  <a:srgbClr val="FFFFFF"/>
                </a:highlight>
                <a:latin typeface="Roboto"/>
                <a:ea typeface="Roboto"/>
                <a:cs typeface="Roboto"/>
                <a:sym typeface="Roboto"/>
              </a:rPr>
              <a:t> to the conservation of mass for all the N species. Here w_doti is the species reaction rate. Mathematically, wdot_i is a non-linear combination of the elements The rate of change for each variable is interdependent.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The last row is the conservation of energy equation which drives the change in temperature of the 0D system.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In turn, the heat release (q) from these reactions is what drives the change in temperature.</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F1F1F"/>
                </a:solidFill>
                <a:highlight>
                  <a:srgbClr val="FFFFFF"/>
                </a:highlight>
                <a:latin typeface="Roboto"/>
                <a:ea typeface="Roboto"/>
                <a:cs typeface="Roboto"/>
                <a:sym typeface="Roboto"/>
              </a:rPr>
              <a:t>In addition to it, we also have the ideal gas equation but takes no part in the time integration mechanism. We use the ideal gas equation only to update the system density after the </a:t>
            </a:r>
            <a:r>
              <a:rPr lang="en" sz="1050">
                <a:solidFill>
                  <a:srgbClr val="1F1F1F"/>
                </a:solidFill>
                <a:highlight>
                  <a:srgbClr val="FFFFFF"/>
                </a:highlight>
                <a:latin typeface="Roboto"/>
                <a:ea typeface="Roboto"/>
                <a:cs typeface="Roboto"/>
                <a:sym typeface="Roboto"/>
              </a:rPr>
              <a:t>calculation of all the other system variables. </a:t>
            </a:r>
            <a:endParaRPr sz="105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 The Neural ODE Framework (du/dt = f(u)):  </a:t>
            </a:r>
            <a:endParaRPr>
              <a:solidFill>
                <a:schemeClr val="dk1"/>
              </a:solidFill>
              <a:highlight>
                <a:schemeClr val="lt1"/>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This system perfectly fits the general form of an ODE which is needed for Neural ODE ML frameworks</a:t>
            </a:r>
            <a:endParaRPr>
              <a:solidFill>
                <a:schemeClr val="dk1"/>
              </a:solidFill>
              <a:highlight>
                <a:schemeClr val="lt1"/>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Goal: </a:t>
            </a:r>
            <a:endParaRPr>
              <a:solidFill>
                <a:schemeClr val="dk1"/>
              </a:solidFill>
              <a:highlight>
                <a:schemeClr val="lt1"/>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Our goal is to create a neural network that learns to approximate this complex and computationally expensive function f. By replacing the traditional calculation of f with a trained neural network, we can accelerate the entire simulation.</a:t>
            </a:r>
            <a:endParaRPr>
              <a:solidFill>
                <a:schemeClr val="dk1"/>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sz="1050">
              <a:solidFill>
                <a:srgbClr val="1F1F1F"/>
              </a:solidFill>
              <a:highlight>
                <a:srgbClr val="FFFFFF"/>
              </a:highlight>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804625d14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804625d14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chemeClr val="lt1"/>
                </a:highlight>
                <a:latin typeface="Roboto"/>
                <a:ea typeface="Roboto"/>
                <a:cs typeface="Roboto"/>
                <a:sym typeface="Roboto"/>
              </a:rPr>
              <a:t>Now i will explain the dataset.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As you can see here, since i am trying to model the H2/Air 0D combustion we have 10 species mass fractions and Temperature for every chemical state </a:t>
            </a:r>
            <a:r>
              <a:rPr lang="en">
                <a:highlight>
                  <a:schemeClr val="lt1"/>
                </a:highlight>
                <a:latin typeface="Roboto"/>
                <a:ea typeface="Roboto"/>
                <a:cs typeface="Roboto"/>
                <a:sym typeface="Roboto"/>
              </a:rPr>
              <a:t>calculated</a:t>
            </a:r>
            <a:r>
              <a:rPr lang="en">
                <a:highlight>
                  <a:schemeClr val="lt1"/>
                </a:highlight>
                <a:latin typeface="Roboto"/>
                <a:ea typeface="Roboto"/>
                <a:cs typeface="Roboto"/>
                <a:sym typeface="Roboto"/>
              </a:rPr>
              <a:t> at different time stamps.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Other than t, Qdot(is just a linear combination of wi’s which in </a:t>
            </a:r>
            <a:r>
              <a:rPr lang="en">
                <a:highlight>
                  <a:schemeClr val="lt1"/>
                </a:highlight>
                <a:latin typeface="Roboto"/>
                <a:ea typeface="Roboto"/>
                <a:cs typeface="Roboto"/>
                <a:sym typeface="Roboto"/>
              </a:rPr>
              <a:t>turn a nonlinear function of the species mass fractions</a:t>
            </a:r>
            <a:r>
              <a:rPr lang="en">
                <a:highlight>
                  <a:schemeClr val="lt1"/>
                </a:highlight>
                <a:latin typeface="Roboto"/>
                <a:ea typeface="Roboto"/>
                <a:cs typeface="Roboto"/>
                <a:sym typeface="Roboto"/>
              </a:rPr>
              <a:t>), and P(is a constant value) all the other variables are our 11 state variables.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Btw this dataset was generated when i was working on a project course wherein i was working with OpenFoam. </a:t>
            </a:r>
            <a:endParaRPr>
              <a:highlight>
                <a:schemeClr val="lt1"/>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7fae582c9f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7fae582c9f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highlight>
                  <a:schemeClr val="lt1"/>
                </a:highlight>
                <a:latin typeface="Roboto"/>
                <a:ea typeface="Roboto"/>
                <a:cs typeface="Roboto"/>
                <a:sym typeface="Roboto"/>
              </a:rPr>
              <a:t>Q. Can we use MLP Neural Nets</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We can input a chemical state and pass it through the network to get the next chemical </a:t>
            </a:r>
            <a:r>
              <a:rPr lang="en" sz="1050">
                <a:highlight>
                  <a:schemeClr val="lt1"/>
                </a:highlight>
                <a:latin typeface="Roboto"/>
                <a:ea typeface="Roboto"/>
                <a:cs typeface="Roboto"/>
                <a:sym typeface="Roboto"/>
              </a:rPr>
              <a:t>state</a:t>
            </a:r>
            <a:r>
              <a:rPr lang="en" sz="1050">
                <a:highlight>
                  <a:schemeClr val="lt1"/>
                </a:highlight>
                <a:latin typeface="Roboto"/>
                <a:ea typeface="Roboto"/>
                <a:cs typeface="Roboto"/>
                <a:sym typeface="Roboto"/>
              </a:rPr>
              <a:t> as the output. We can include a physics loss term to ensure that out model can </a:t>
            </a:r>
            <a:r>
              <a:rPr lang="en" sz="1050">
                <a:highlight>
                  <a:schemeClr val="lt1"/>
                </a:highlight>
                <a:latin typeface="Roboto"/>
                <a:ea typeface="Roboto"/>
                <a:cs typeface="Roboto"/>
                <a:sym typeface="Roboto"/>
              </a:rPr>
              <a:t>satisfy</a:t>
            </a:r>
            <a:r>
              <a:rPr lang="en" sz="1050">
                <a:highlight>
                  <a:schemeClr val="lt1"/>
                </a:highlight>
                <a:latin typeface="Roboto"/>
                <a:ea typeface="Roboto"/>
                <a:cs typeface="Roboto"/>
                <a:sym typeface="Roboto"/>
              </a:rPr>
              <a:t> the underlying physics.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But even after that, MLPs tend to have the error accumulation problem as we recursively predict the states after the another.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Hence MLPs are ruled out</a:t>
            </a:r>
            <a:endParaRPr sz="1050">
              <a:highlight>
                <a:schemeClr val="lt1"/>
              </a:highlight>
              <a:latin typeface="Roboto"/>
              <a:ea typeface="Roboto"/>
              <a:cs typeface="Roboto"/>
              <a:sym typeface="Roboto"/>
            </a:endParaRPr>
          </a:p>
          <a:p>
            <a:pPr indent="0" lvl="0" marL="0" rtl="0" algn="l">
              <a:spcBef>
                <a:spcPts val="0"/>
              </a:spcBef>
              <a:spcAft>
                <a:spcPts val="0"/>
              </a:spcAft>
              <a:buNone/>
            </a:pPr>
            <a:r>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Q. can we use RNNs</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I know RNNs predict the state based on the memory its previous states. But this property has no use in our system.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Plus along with MLPs, RNNs also have a error </a:t>
            </a:r>
            <a:r>
              <a:rPr lang="en" sz="1050">
                <a:highlight>
                  <a:schemeClr val="lt1"/>
                </a:highlight>
                <a:latin typeface="Roboto"/>
                <a:ea typeface="Roboto"/>
                <a:cs typeface="Roboto"/>
                <a:sym typeface="Roboto"/>
              </a:rPr>
              <a:t>accumulation</a:t>
            </a:r>
            <a:r>
              <a:rPr lang="en" sz="1050">
                <a:highlight>
                  <a:schemeClr val="lt1"/>
                </a:highlight>
                <a:latin typeface="Roboto"/>
                <a:ea typeface="Roboto"/>
                <a:cs typeface="Roboto"/>
                <a:sym typeface="Roboto"/>
              </a:rPr>
              <a:t> problem.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Alongwith, it cannot be used on dynamically </a:t>
            </a:r>
            <a:r>
              <a:rPr lang="en" sz="1050">
                <a:highlight>
                  <a:schemeClr val="lt1"/>
                </a:highlight>
                <a:latin typeface="Roboto"/>
                <a:ea typeface="Roboto"/>
                <a:cs typeface="Roboto"/>
                <a:sym typeface="Roboto"/>
              </a:rPr>
              <a:t>changing</a:t>
            </a:r>
            <a:r>
              <a:rPr lang="en" sz="1050">
                <a:highlight>
                  <a:schemeClr val="lt1"/>
                </a:highlight>
                <a:latin typeface="Roboto"/>
                <a:ea typeface="Roboto"/>
                <a:cs typeface="Roboto"/>
                <a:sym typeface="Roboto"/>
              </a:rPr>
              <a:t> time steps.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Hence RNNs are ruled out. </a:t>
            </a:r>
            <a:endParaRPr sz="1050">
              <a:highlight>
                <a:schemeClr val="lt1"/>
              </a:highlight>
              <a:latin typeface="Roboto"/>
              <a:ea typeface="Roboto"/>
              <a:cs typeface="Roboto"/>
              <a:sym typeface="Roboto"/>
            </a:endParaRPr>
          </a:p>
          <a:p>
            <a:pPr indent="0" lvl="0" marL="0" rtl="0" algn="l">
              <a:spcBef>
                <a:spcPts val="0"/>
              </a:spcBef>
              <a:spcAft>
                <a:spcPts val="0"/>
              </a:spcAft>
              <a:buNone/>
            </a:pPr>
            <a:r>
              <a:t/>
            </a:r>
            <a:endParaRPr sz="1050">
              <a:highlight>
                <a:schemeClr val="lt1"/>
              </a:highlight>
              <a:latin typeface="Roboto"/>
              <a:ea typeface="Roboto"/>
              <a:cs typeface="Roboto"/>
              <a:sym typeface="Roboto"/>
            </a:endParaRPr>
          </a:p>
          <a:p>
            <a:pPr indent="0" lvl="0" marL="0" rtl="0" algn="l">
              <a:spcBef>
                <a:spcPts val="0"/>
              </a:spcBef>
              <a:spcAft>
                <a:spcPts val="0"/>
              </a:spcAft>
              <a:buNone/>
            </a:pPr>
            <a:r>
              <a:rPr lang="en" sz="1050">
                <a:highlight>
                  <a:schemeClr val="lt1"/>
                </a:highlight>
                <a:latin typeface="Roboto"/>
                <a:ea typeface="Roboto"/>
                <a:cs typeface="Roboto"/>
                <a:sym typeface="Roboto"/>
              </a:rPr>
              <a:t>In this slide i </a:t>
            </a:r>
            <a:r>
              <a:rPr lang="en" sz="1050">
                <a:highlight>
                  <a:schemeClr val="lt1"/>
                </a:highlight>
                <a:latin typeface="Roboto"/>
                <a:ea typeface="Roboto"/>
                <a:cs typeface="Roboto"/>
                <a:sym typeface="Roboto"/>
              </a:rPr>
              <a:t>compare</a:t>
            </a:r>
            <a:r>
              <a:rPr lang="en" sz="1050">
                <a:highlight>
                  <a:schemeClr val="lt1"/>
                </a:highlight>
                <a:latin typeface="Roboto"/>
                <a:ea typeface="Roboto"/>
                <a:cs typeface="Roboto"/>
                <a:sym typeface="Roboto"/>
              </a:rPr>
              <a:t> the two approaches: ResNets vs Neural ODE Frameworks</a:t>
            </a:r>
            <a:endParaRPr sz="1050">
              <a:highlight>
                <a:schemeClr val="lt1"/>
              </a:highlight>
              <a:latin typeface="Roboto"/>
              <a:ea typeface="Roboto"/>
              <a:cs typeface="Roboto"/>
              <a:sym typeface="Roboto"/>
            </a:endParaRPr>
          </a:p>
          <a:p>
            <a:pPr indent="0" lvl="0" marL="0" rtl="0" algn="l">
              <a:spcBef>
                <a:spcPts val="0"/>
              </a:spcBef>
              <a:spcAft>
                <a:spcPts val="0"/>
              </a:spcAft>
              <a:buNone/>
            </a:pPr>
            <a:r>
              <a:t/>
            </a:r>
            <a:endParaRPr sz="1050">
              <a:highlight>
                <a:schemeClr val="lt1"/>
              </a:highlight>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lang="en" sz="1050">
                <a:solidFill>
                  <a:schemeClr val="dk1"/>
                </a:solidFill>
                <a:highlight>
                  <a:schemeClr val="lt1"/>
                </a:highlight>
                <a:latin typeface="Roboto"/>
                <a:ea typeface="Roboto"/>
                <a:cs typeface="Roboto"/>
                <a:sym typeface="Roboto"/>
              </a:rPr>
              <a:t>Handling of Time Steps: A Key Advantage</a:t>
            </a:r>
            <a:endParaRPr sz="1050">
              <a:solidFill>
                <a:schemeClr val="dk1"/>
              </a:solidFill>
              <a:highlight>
                <a:schemeClr val="lt1"/>
              </a:highlight>
              <a:latin typeface="Roboto"/>
              <a:ea typeface="Roboto"/>
              <a:cs typeface="Roboto"/>
              <a:sym typeface="Roboto"/>
            </a:endParaRPr>
          </a:p>
          <a:p>
            <a:pPr indent="-295275" lvl="0" marL="457200" rtl="0" algn="l">
              <a:lnSpc>
                <a:spcPct val="115000"/>
              </a:lnSpc>
              <a:spcBef>
                <a:spcPts val="1200"/>
              </a:spcBef>
              <a:spcAft>
                <a:spcPts val="0"/>
              </a:spcAft>
              <a:buClr>
                <a:schemeClr val="dk1"/>
              </a:buClr>
              <a:buSzPts val="1050"/>
              <a:buChar char="●"/>
            </a:pPr>
            <a:r>
              <a:rPr lang="en" sz="1050">
                <a:solidFill>
                  <a:schemeClr val="dk1"/>
                </a:solidFill>
                <a:highlight>
                  <a:schemeClr val="lt1"/>
                </a:highlight>
                <a:latin typeface="Roboto"/>
                <a:ea typeface="Roboto"/>
                <a:cs typeface="Roboto"/>
                <a:sym typeface="Roboto"/>
              </a:rPr>
              <a:t>Works with Irregular Data: A major advantage of the NODE framework is its ability to handle data with irregular or adaptive time steps.</a:t>
            </a:r>
            <a:endParaRPr sz="1050">
              <a:solidFill>
                <a:schemeClr val="dk1"/>
              </a:solidFill>
              <a:highlight>
                <a:schemeClr val="lt1"/>
              </a:highlight>
              <a:latin typeface="Roboto"/>
              <a:ea typeface="Roboto"/>
              <a:cs typeface="Roboto"/>
              <a:sym typeface="Roboto"/>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highlight>
                  <a:schemeClr val="lt1"/>
                </a:highlight>
                <a:latin typeface="Roboto"/>
                <a:ea typeface="Roboto"/>
                <a:cs typeface="Roboto"/>
                <a:sym typeface="Roboto"/>
              </a:rPr>
              <a:t>Learns Continuous Dynamics: Because the model learns the underlying continuous dynamics (</a:t>
            </a:r>
            <a:r>
              <a:rPr lang="en" sz="1050">
                <a:solidFill>
                  <a:srgbClr val="188038"/>
                </a:solidFill>
                <a:highlight>
                  <a:schemeClr val="lt1"/>
                </a:highlight>
                <a:latin typeface="Roboto"/>
                <a:ea typeface="Roboto"/>
                <a:cs typeface="Roboto"/>
                <a:sym typeface="Roboto"/>
              </a:rPr>
              <a:t>du/dt</a:t>
            </a:r>
            <a:r>
              <a:rPr lang="en" sz="1050">
                <a:solidFill>
                  <a:schemeClr val="dk1"/>
                </a:solidFill>
                <a:highlight>
                  <a:schemeClr val="lt1"/>
                </a:highlight>
                <a:latin typeface="Roboto"/>
                <a:ea typeface="Roboto"/>
                <a:cs typeface="Roboto"/>
                <a:sym typeface="Roboto"/>
              </a:rPr>
              <a:t>) rather than a discrete-step function, it's completely independent of how the data was sampled over time.</a:t>
            </a:r>
            <a:endParaRPr sz="1050">
              <a:solidFill>
                <a:schemeClr val="dk1"/>
              </a:solidFill>
              <a:highlight>
                <a:schemeClr val="lt1"/>
              </a:highlight>
              <a:latin typeface="Roboto"/>
              <a:ea typeface="Roboto"/>
              <a:cs typeface="Roboto"/>
              <a:sym typeface="Roboto"/>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highlight>
                  <a:schemeClr val="lt1"/>
                </a:highlight>
                <a:latin typeface="Roboto"/>
                <a:ea typeface="Roboto"/>
                <a:cs typeface="Roboto"/>
                <a:sym typeface="Roboto"/>
              </a:rPr>
              <a:t>Breaks a Key Limitation: This overcomes a major limitation of previous SciML techniques (like RNNs or ResNets), which require training data to be at uniform, regular time intervals (</a:t>
            </a:r>
            <a:r>
              <a:rPr lang="en" sz="1050">
                <a:solidFill>
                  <a:srgbClr val="188038"/>
                </a:solidFill>
                <a:highlight>
                  <a:schemeClr val="lt1"/>
                </a:highlight>
                <a:latin typeface="Roboto"/>
                <a:ea typeface="Roboto"/>
                <a:cs typeface="Roboto"/>
                <a:sym typeface="Roboto"/>
              </a:rPr>
              <a:t>Δt</a:t>
            </a:r>
            <a:r>
              <a:rPr lang="en" sz="1050">
                <a:solidFill>
                  <a:schemeClr val="dk1"/>
                </a:solidFill>
                <a:highlight>
                  <a:schemeClr val="lt1"/>
                </a:highlight>
                <a:latin typeface="Roboto"/>
                <a:ea typeface="Roboto"/>
                <a:cs typeface="Roboto"/>
                <a:sym typeface="Roboto"/>
              </a:rPr>
              <a:t>). This gives us far more flexibility in the datasets we can use.</a:t>
            </a:r>
            <a:endParaRPr sz="1050">
              <a:solidFill>
                <a:schemeClr val="dk1"/>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7fae582c9f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7fae582c9f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chemeClr val="lt1"/>
                </a:highlight>
                <a:latin typeface="Roboto"/>
                <a:ea typeface="Roboto"/>
                <a:cs typeface="Roboto"/>
                <a:sym typeface="Roboto"/>
              </a:rPr>
              <a:t>As i had explained </a:t>
            </a:r>
            <a:r>
              <a:rPr lang="en">
                <a:highlight>
                  <a:schemeClr val="lt1"/>
                </a:highlight>
                <a:latin typeface="Roboto"/>
                <a:ea typeface="Roboto"/>
                <a:cs typeface="Roboto"/>
                <a:sym typeface="Roboto"/>
              </a:rPr>
              <a:t>earlier, in NODE frameworks we predict the instantaneous rate of change of the system’s state.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As you can see in this schematic, we input the state at ti time and we predict the rate of change of all these individual variables. Since we know the previous state, and we have the predicted rates of change of state, we can plug-in the predicted differential function values to an external ODE numerical integrator like RK3, RK4, etc.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We can choose any integration time of our choice, we just need to make sure that the numerical integrator is sufficiently accurate enough.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Explain Overall training loop: Then mention about the Adjoint </a:t>
            </a:r>
            <a:r>
              <a:rPr lang="en">
                <a:highlight>
                  <a:schemeClr val="lt1"/>
                </a:highlight>
                <a:latin typeface="Roboto"/>
                <a:ea typeface="Roboto"/>
                <a:cs typeface="Roboto"/>
                <a:sym typeface="Roboto"/>
              </a:rPr>
              <a:t>sensitivity method and tell that we have the governing equation loss included in its derivation. </a:t>
            </a:r>
            <a:endParaRPr>
              <a:highlight>
                <a:schemeClr val="lt1"/>
              </a:highlight>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7fae582c9f_1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7fae582c9f_1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chemeClr val="lt1"/>
                </a:highlight>
                <a:latin typeface="Roboto"/>
                <a:ea typeface="Roboto"/>
                <a:cs typeface="Roboto"/>
                <a:sym typeface="Roboto"/>
              </a:rPr>
              <a:t>These are the references. If you have any questions, feel free to ask. </a:t>
            </a:r>
            <a:endParaRPr>
              <a:highlight>
                <a:schemeClr val="lt1"/>
              </a:highlight>
              <a:latin typeface="Roboto"/>
              <a:ea typeface="Roboto"/>
              <a:cs typeface="Roboto"/>
              <a:sym typeface="Roboto"/>
            </a:endParaRPr>
          </a:p>
          <a:p>
            <a:pPr indent="0" lvl="0" marL="0" rtl="0" algn="l">
              <a:spcBef>
                <a:spcPts val="0"/>
              </a:spcBef>
              <a:spcAft>
                <a:spcPts val="0"/>
              </a:spcAft>
              <a:buNone/>
            </a:pPr>
            <a:r>
              <a:t/>
            </a:r>
            <a:endParaRPr>
              <a:highlight>
                <a:schemeClr val="lt1"/>
              </a:highlight>
              <a:latin typeface="Roboto"/>
              <a:ea typeface="Roboto"/>
              <a:cs typeface="Roboto"/>
              <a:sym typeface="Roboto"/>
            </a:endParaRPr>
          </a:p>
          <a:p>
            <a:pPr indent="0" lvl="0" marL="0" rtl="0" algn="l">
              <a:spcBef>
                <a:spcPts val="0"/>
              </a:spcBef>
              <a:spcAft>
                <a:spcPts val="0"/>
              </a:spcAft>
              <a:buNone/>
            </a:pPr>
            <a:r>
              <a:rPr lang="en">
                <a:highlight>
                  <a:schemeClr val="lt1"/>
                </a:highlight>
                <a:latin typeface="Roboto"/>
                <a:ea typeface="Roboto"/>
                <a:cs typeface="Roboto"/>
                <a:sym typeface="Roboto"/>
              </a:rPr>
              <a:t>Thank you. </a:t>
            </a:r>
            <a:endParaRPr>
              <a:highlight>
                <a:schemeClr val="lt1"/>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7fae582c9f_1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7fae582c9f_1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hyperlink" Target="https://www.youtube.com/watch?v=nJphsM4obOk" TargetMode="External"/><Relationship Id="rId4" Type="http://schemas.openxmlformats.org/officeDocument/2006/relationships/hyperlink" Target="https://www.youtube.com/watch?v=nJphsM4obOk" TargetMode="External"/><Relationship Id="rId5" Type="http://schemas.openxmlformats.org/officeDocument/2006/relationships/hyperlink" Target="https://www.youtube.com/watch?v=k6s2G5MZv-I" TargetMode="External"/><Relationship Id="rId6" Type="http://schemas.openxmlformats.org/officeDocument/2006/relationships/hyperlink" Target="https://www.youtube.com/watch?v=k6s2G5MZv-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594700" cy="612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Sora"/>
                <a:ea typeface="Sora"/>
                <a:cs typeface="Sora"/>
                <a:sym typeface="Sora"/>
              </a:rPr>
              <a:t>ME 691: XVII SciML for Thermo-fluids</a:t>
            </a:r>
            <a:endParaRPr sz="1500">
              <a:latin typeface="Sora"/>
              <a:ea typeface="Sora"/>
              <a:cs typeface="Sora"/>
              <a:sym typeface="Sora"/>
            </a:endParaRPr>
          </a:p>
          <a:p>
            <a:pPr indent="0" lvl="0" marL="0" rtl="0" algn="l">
              <a:lnSpc>
                <a:spcPct val="115000"/>
              </a:lnSpc>
              <a:spcBef>
                <a:spcPts val="0"/>
              </a:spcBef>
              <a:spcAft>
                <a:spcPts val="0"/>
              </a:spcAft>
              <a:buNone/>
            </a:pPr>
            <a:r>
              <a:t/>
            </a:r>
            <a:endParaRPr sz="1500">
              <a:latin typeface="Sora"/>
              <a:ea typeface="Sora"/>
              <a:cs typeface="Sora"/>
              <a:sym typeface="Sora"/>
            </a:endParaRPr>
          </a:p>
          <a:p>
            <a:pPr indent="0" lvl="0" marL="0" rtl="0" algn="l">
              <a:lnSpc>
                <a:spcPct val="115000"/>
              </a:lnSpc>
              <a:spcBef>
                <a:spcPts val="0"/>
              </a:spcBef>
              <a:spcAft>
                <a:spcPts val="0"/>
              </a:spcAft>
              <a:buNone/>
            </a:pPr>
            <a:r>
              <a:t/>
            </a:r>
            <a:endParaRPr sz="1500">
              <a:latin typeface="Sora"/>
              <a:ea typeface="Sora"/>
              <a:cs typeface="Sora"/>
              <a:sym typeface="Sora"/>
            </a:endParaRPr>
          </a:p>
        </p:txBody>
      </p:sp>
      <p:sp>
        <p:nvSpPr>
          <p:cNvPr id="889" name="Google Shape;889;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Project Proposal Presentation</a:t>
            </a:r>
            <a:endParaRPr>
              <a:solidFill>
                <a:schemeClr val="dk2"/>
              </a:solidFill>
            </a:endParaRPr>
          </a:p>
        </p:txBody>
      </p:sp>
      <p:sp>
        <p:nvSpPr>
          <p:cNvPr id="890" name="Google Shape;890;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latin typeface="Sora"/>
                <a:ea typeface="Sora"/>
                <a:cs typeface="Sora"/>
                <a:sym typeface="Sora"/>
              </a:rPr>
              <a:t>Name: Aditya Prasad (Fourth year ME undergrad)</a:t>
            </a:r>
            <a:endParaRPr sz="1200">
              <a:latin typeface="Sora"/>
              <a:ea typeface="Sora"/>
              <a:cs typeface="Sora"/>
              <a:sym typeface="Sora"/>
            </a:endParaRPr>
          </a:p>
          <a:p>
            <a:pPr indent="0" lvl="0" marL="0" rtl="0" algn="l">
              <a:spcBef>
                <a:spcPts val="0"/>
              </a:spcBef>
              <a:spcAft>
                <a:spcPts val="0"/>
              </a:spcAft>
              <a:buNone/>
            </a:pPr>
            <a:r>
              <a:rPr lang="en" sz="1200">
                <a:latin typeface="Sora"/>
                <a:ea typeface="Sora"/>
                <a:cs typeface="Sora"/>
                <a:sym typeface="Sora"/>
              </a:rPr>
              <a:t>Roll No. : 22110018</a:t>
            </a:r>
            <a:endParaRPr sz="1200">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2"/>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Contents</a:t>
            </a:r>
            <a:endParaRPr b="1"/>
          </a:p>
        </p:txBody>
      </p:sp>
      <p:sp>
        <p:nvSpPr>
          <p:cNvPr id="896" name="Google Shape;896;p52"/>
          <p:cNvSpPr txBox="1"/>
          <p:nvPr>
            <p:ph idx="5" type="subTitle"/>
          </p:nvPr>
        </p:nvSpPr>
        <p:spPr>
          <a:xfrm>
            <a:off x="4482800" y="319578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5</a:t>
            </a:r>
            <a:r>
              <a:rPr b="0" lang="en"/>
              <a:t>.</a:t>
            </a:r>
            <a:endParaRPr b="0"/>
          </a:p>
        </p:txBody>
      </p:sp>
      <p:sp>
        <p:nvSpPr>
          <p:cNvPr id="897" name="Google Shape;897;p52"/>
          <p:cNvSpPr txBox="1"/>
          <p:nvPr>
            <p:ph idx="6" type="subTitle"/>
          </p:nvPr>
        </p:nvSpPr>
        <p:spPr>
          <a:xfrm>
            <a:off x="4482800" y="288942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SciML techniques</a:t>
            </a:r>
            <a:endParaRPr/>
          </a:p>
        </p:txBody>
      </p:sp>
      <p:sp>
        <p:nvSpPr>
          <p:cNvPr id="898" name="Google Shape;898;p52"/>
          <p:cNvSpPr txBox="1"/>
          <p:nvPr>
            <p:ph idx="7" type="subTitle"/>
          </p:nvPr>
        </p:nvSpPr>
        <p:spPr>
          <a:xfrm>
            <a:off x="4482800" y="2662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4</a:t>
            </a:r>
            <a:r>
              <a:rPr b="0" lang="en"/>
              <a:t>.</a:t>
            </a:r>
            <a:endParaRPr b="0"/>
          </a:p>
        </p:txBody>
      </p:sp>
      <p:sp>
        <p:nvSpPr>
          <p:cNvPr id="899" name="Google Shape;899;p52"/>
          <p:cNvSpPr txBox="1"/>
          <p:nvPr>
            <p:ph idx="8" type="subTitle"/>
          </p:nvPr>
        </p:nvSpPr>
        <p:spPr>
          <a:xfrm>
            <a:off x="4482800" y="236186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Dataset</a:t>
            </a:r>
            <a:endParaRPr/>
          </a:p>
        </p:txBody>
      </p:sp>
      <p:sp>
        <p:nvSpPr>
          <p:cNvPr id="900" name="Google Shape;900;p52"/>
          <p:cNvSpPr txBox="1"/>
          <p:nvPr>
            <p:ph idx="9" type="subTitle"/>
          </p:nvPr>
        </p:nvSpPr>
        <p:spPr>
          <a:xfrm>
            <a:off x="4482800" y="2129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3.</a:t>
            </a:r>
            <a:endParaRPr b="0"/>
          </a:p>
        </p:txBody>
      </p:sp>
      <p:sp>
        <p:nvSpPr>
          <p:cNvPr id="901" name="Google Shape;901;p52"/>
          <p:cNvSpPr txBox="1"/>
          <p:nvPr>
            <p:ph idx="13" type="subTitle"/>
          </p:nvPr>
        </p:nvSpPr>
        <p:spPr>
          <a:xfrm>
            <a:off x="4482800" y="1829238"/>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Governing Equations</a:t>
            </a:r>
            <a:endParaRPr/>
          </a:p>
        </p:txBody>
      </p:sp>
      <p:sp>
        <p:nvSpPr>
          <p:cNvPr id="902" name="Google Shape;902;p52"/>
          <p:cNvSpPr txBox="1"/>
          <p:nvPr>
            <p:ph idx="14" type="subTitle"/>
          </p:nvPr>
        </p:nvSpPr>
        <p:spPr>
          <a:xfrm>
            <a:off x="4482800" y="159637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2</a:t>
            </a:r>
            <a:r>
              <a:rPr b="0" lang="en"/>
              <a:t>.</a:t>
            </a:r>
            <a:endParaRPr b="0"/>
          </a:p>
        </p:txBody>
      </p:sp>
      <p:sp>
        <p:nvSpPr>
          <p:cNvPr id="903" name="Google Shape;903;p52"/>
          <p:cNvSpPr txBox="1"/>
          <p:nvPr>
            <p:ph idx="15" type="subTitle"/>
          </p:nvPr>
        </p:nvSpPr>
        <p:spPr>
          <a:xfrm>
            <a:off x="4482800" y="129661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Problem Statement</a:t>
            </a:r>
            <a:endParaRPr/>
          </a:p>
        </p:txBody>
      </p:sp>
      <p:sp>
        <p:nvSpPr>
          <p:cNvPr id="904" name="Google Shape;904;p52"/>
          <p:cNvSpPr txBox="1"/>
          <p:nvPr>
            <p:ph idx="16" type="subTitle"/>
          </p:nvPr>
        </p:nvSpPr>
        <p:spPr>
          <a:xfrm>
            <a:off x="4482800" y="10637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a:t>
            </a:r>
            <a:r>
              <a:rPr b="0" lang="en"/>
              <a:t>.</a:t>
            </a:r>
            <a:endParaRPr b="0"/>
          </a:p>
        </p:txBody>
      </p:sp>
      <p:sp>
        <p:nvSpPr>
          <p:cNvPr id="905" name="Google Shape;905;p52"/>
          <p:cNvSpPr txBox="1"/>
          <p:nvPr>
            <p:ph idx="1" type="subTitle"/>
          </p:nvPr>
        </p:nvSpPr>
        <p:spPr>
          <a:xfrm>
            <a:off x="4482800" y="396397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References</a:t>
            </a:r>
            <a:endParaRPr/>
          </a:p>
        </p:txBody>
      </p:sp>
      <p:sp>
        <p:nvSpPr>
          <p:cNvPr id="906" name="Google Shape;906;p52"/>
          <p:cNvSpPr txBox="1"/>
          <p:nvPr>
            <p:ph idx="2" type="subTitle"/>
          </p:nvPr>
        </p:nvSpPr>
        <p:spPr>
          <a:xfrm>
            <a:off x="4482800" y="37311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6.</a:t>
            </a:r>
            <a:endParaRPr b="0"/>
          </a:p>
        </p:txBody>
      </p:sp>
      <p:sp>
        <p:nvSpPr>
          <p:cNvPr id="907" name="Google Shape;907;p52"/>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NODE: In-depth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3"/>
          <p:cNvSpPr txBox="1"/>
          <p:nvPr>
            <p:ph type="title"/>
          </p:nvPr>
        </p:nvSpPr>
        <p:spPr>
          <a:xfrm>
            <a:off x="96025" y="815700"/>
            <a:ext cx="6507000" cy="16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Integration of 0D Chemical Kinetics simulations using Neural ODEs</a:t>
            </a:r>
            <a:endParaRPr/>
          </a:p>
        </p:txBody>
      </p:sp>
      <p:sp>
        <p:nvSpPr>
          <p:cNvPr id="913" name="Google Shape;913;p53"/>
          <p:cNvSpPr txBox="1"/>
          <p:nvPr>
            <p:ph idx="1" type="subTitle"/>
          </p:nvPr>
        </p:nvSpPr>
        <p:spPr>
          <a:xfrm>
            <a:off x="115025" y="2648150"/>
            <a:ext cx="4503900" cy="23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900"/>
              <a:t>Some </a:t>
            </a:r>
            <a:r>
              <a:rPr b="1" lang="en" sz="900"/>
              <a:t>Context</a:t>
            </a:r>
            <a:r>
              <a:rPr b="1" lang="en" sz="900"/>
              <a:t> to the Project title:</a:t>
            </a:r>
            <a:endParaRPr b="1" sz="900"/>
          </a:p>
          <a:p>
            <a:pPr indent="0" lvl="0" marL="0" rtl="0" algn="l">
              <a:spcBef>
                <a:spcPts val="1000"/>
              </a:spcBef>
              <a:spcAft>
                <a:spcPts val="0"/>
              </a:spcAft>
              <a:buNone/>
            </a:pPr>
            <a:r>
              <a:rPr lang="en">
                <a:solidFill>
                  <a:srgbClr val="000000"/>
                </a:solidFill>
              </a:rPr>
              <a:t>A </a:t>
            </a:r>
            <a:r>
              <a:rPr b="1" lang="en">
                <a:solidFill>
                  <a:srgbClr val="000000"/>
                </a:solidFill>
              </a:rPr>
              <a:t>0D system</a:t>
            </a:r>
            <a:r>
              <a:rPr lang="en">
                <a:solidFill>
                  <a:srgbClr val="000000"/>
                </a:solidFill>
              </a:rPr>
              <a:t> models a perfectly mixed environment, focusing solely on how chemical concentrations change over </a:t>
            </a:r>
            <a:r>
              <a:rPr b="1" lang="en">
                <a:solidFill>
                  <a:srgbClr val="000000"/>
                </a:solidFill>
              </a:rPr>
              <a:t>time</a:t>
            </a:r>
            <a:r>
              <a:rPr lang="en">
                <a:solidFill>
                  <a:srgbClr val="000000"/>
                </a:solidFill>
              </a:rPr>
              <a:t>, completely ignoring any spatial variations.</a:t>
            </a:r>
            <a:endParaRPr>
              <a:solidFill>
                <a:srgbClr val="000000"/>
              </a:solidFill>
            </a:endParaRPr>
          </a:p>
          <a:p>
            <a:pPr indent="0" lvl="0" marL="0" rtl="0" algn="l">
              <a:spcBef>
                <a:spcPts val="1000"/>
              </a:spcBef>
              <a:spcAft>
                <a:spcPts val="1000"/>
              </a:spcAft>
              <a:buNone/>
            </a:pPr>
            <a:r>
              <a:rPr lang="en">
                <a:solidFill>
                  <a:srgbClr val="000000"/>
                </a:solidFill>
              </a:rPr>
              <a:t>A </a:t>
            </a:r>
            <a:r>
              <a:rPr b="1" lang="en">
                <a:solidFill>
                  <a:srgbClr val="000000"/>
                </a:solidFill>
              </a:rPr>
              <a:t>Neural ODE's</a:t>
            </a:r>
            <a:r>
              <a:rPr lang="en">
                <a:solidFill>
                  <a:srgbClr val="000000"/>
                </a:solidFill>
              </a:rPr>
              <a:t> job isn't to predict the next state, but to learn the system's </a:t>
            </a:r>
            <a:r>
              <a:rPr b="1" lang="en">
                <a:solidFill>
                  <a:srgbClr val="000000"/>
                </a:solidFill>
              </a:rPr>
              <a:t>differential function</a:t>
            </a:r>
            <a:r>
              <a:rPr lang="en">
                <a:solidFill>
                  <a:srgbClr val="000000"/>
                </a:solidFill>
              </a:rPr>
              <a:t> (</a:t>
            </a:r>
            <a:r>
              <a:rPr lang="en">
                <a:solidFill>
                  <a:srgbClr val="188038"/>
                </a:solidFill>
              </a:rPr>
              <a:t>dS/dt</a:t>
            </a:r>
            <a:r>
              <a:rPr lang="en">
                <a:solidFill>
                  <a:srgbClr val="000000"/>
                </a:solidFill>
              </a:rPr>
              <a:t>); this learned function is then handed to a classic numerical solver which integrates it to find the next state. In short, the neural network learns the </a:t>
            </a:r>
            <a:r>
              <a:rPr b="1" lang="en">
                <a:solidFill>
                  <a:srgbClr val="000000"/>
                </a:solidFill>
              </a:rPr>
              <a:t>physics</a:t>
            </a:r>
            <a:r>
              <a:rPr lang="en">
                <a:solidFill>
                  <a:srgbClr val="000000"/>
                </a:solidFill>
              </a:rPr>
              <a:t>, and the solver does the </a:t>
            </a:r>
            <a:r>
              <a:rPr b="1" lang="en">
                <a:solidFill>
                  <a:srgbClr val="000000"/>
                </a:solidFill>
              </a:rPr>
              <a:t>math</a:t>
            </a:r>
            <a:r>
              <a:rPr lang="en">
                <a:solidFill>
                  <a:srgbClr val="000000"/>
                </a:solidFill>
                <a:latin typeface="Arial"/>
                <a:ea typeface="Arial"/>
                <a:cs typeface="Arial"/>
                <a:sym typeface="Arial"/>
              </a:rPr>
              <a:t>.</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54"/>
          <p:cNvSpPr txBox="1"/>
          <p:nvPr>
            <p:ph idx="5" type="title"/>
          </p:nvPr>
        </p:nvSpPr>
        <p:spPr>
          <a:xfrm>
            <a:off x="142450" y="2399688"/>
            <a:ext cx="2536500" cy="1037700"/>
          </a:xfrm>
          <a:prstGeom prst="rect">
            <a:avLst/>
          </a:prstGeom>
        </p:spPr>
        <p:txBody>
          <a:bodyPr anchorCtr="0" anchor="t" bIns="91425" lIns="91425" spcFirstLastPara="1" rIns="91425" wrap="square" tIns="0">
            <a:normAutofit fontScale="90000"/>
          </a:bodyPr>
          <a:lstStyle/>
          <a:p>
            <a:pPr indent="0" lvl="0" marL="0" rtl="0" algn="l">
              <a:spcBef>
                <a:spcPts val="0"/>
              </a:spcBef>
              <a:spcAft>
                <a:spcPts val="0"/>
              </a:spcAft>
              <a:buNone/>
            </a:pPr>
            <a:r>
              <a:rPr b="1" lang="en" sz="2933"/>
              <a:t>Governing Equations:</a:t>
            </a:r>
            <a:endParaRPr b="1" sz="2933"/>
          </a:p>
          <a:p>
            <a:pPr indent="0" lvl="0" marL="0" rtl="0" algn="l">
              <a:spcBef>
                <a:spcPts val="0"/>
              </a:spcBef>
              <a:spcAft>
                <a:spcPts val="0"/>
              </a:spcAft>
              <a:buNone/>
            </a:pPr>
            <a:r>
              <a:t/>
            </a:r>
            <a:endParaRPr/>
          </a:p>
        </p:txBody>
      </p:sp>
      <p:sp>
        <p:nvSpPr>
          <p:cNvPr id="919" name="Google Shape;919;p54"/>
          <p:cNvSpPr txBox="1"/>
          <p:nvPr>
            <p:ph idx="6" type="title"/>
          </p:nvPr>
        </p:nvSpPr>
        <p:spPr>
          <a:xfrm>
            <a:off x="2530975" y="1485725"/>
            <a:ext cx="6283200" cy="2957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IBM Plex Sans Medium"/>
                <a:ea typeface="IBM Plex Sans Medium"/>
                <a:cs typeface="IBM Plex Sans Medium"/>
                <a:sym typeface="IBM Plex Sans Medium"/>
              </a:rPr>
              <a:t>The change in this state vector over time is governed by the conservation equations for species and energy.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rPr lang="en" sz="1100">
                <a:latin typeface="IBM Plex Sans Medium"/>
                <a:ea typeface="IBM Plex Sans Medium"/>
                <a:cs typeface="IBM Plex Sans Medium"/>
                <a:sym typeface="IBM Plex Sans Medium"/>
              </a:rPr>
              <a:t>                                                                                                                       or</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rPr lang="en" sz="1100">
                <a:latin typeface="IBM Plex Sans Medium"/>
                <a:ea typeface="IBM Plex Sans Medium"/>
                <a:cs typeface="IBM Plex Sans Medium"/>
                <a:sym typeface="IBM Plex Sans Medium"/>
              </a:rPr>
              <a:t>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rPr lang="en" sz="1100">
                <a:latin typeface="IBM Plex Sans Medium"/>
                <a:ea typeface="IBM Plex Sans Medium"/>
                <a:cs typeface="IBM Plex Sans Medium"/>
                <a:sym typeface="IBM Plex Sans Medium"/>
              </a:rPr>
              <a:t>Here, the rate of heat release (q) is a linear </a:t>
            </a:r>
            <a:r>
              <a:rPr lang="en" sz="1100">
                <a:latin typeface="IBM Plex Sans Medium"/>
                <a:ea typeface="IBM Plex Sans Medium"/>
                <a:cs typeface="IBM Plex Sans Medium"/>
                <a:sym typeface="IBM Plex Sans Medium"/>
              </a:rPr>
              <a:t>combination</a:t>
            </a:r>
            <a:r>
              <a:rPr lang="en" sz="1100">
                <a:latin typeface="IBM Plex Sans Medium"/>
                <a:ea typeface="IBM Plex Sans Medium"/>
                <a:cs typeface="IBM Plex Sans Medium"/>
                <a:sym typeface="IBM Plex Sans Medium"/>
              </a:rPr>
              <a:t> of all the reaction rates (w</a:t>
            </a:r>
            <a:r>
              <a:rPr baseline="-25000" lang="en" sz="1100">
                <a:latin typeface="IBM Plex Sans Medium"/>
                <a:ea typeface="IBM Plex Sans Medium"/>
                <a:cs typeface="IBM Plex Sans Medium"/>
                <a:sym typeface="IBM Plex Sans Medium"/>
              </a:rPr>
              <a:t>i</a:t>
            </a:r>
            <a:r>
              <a:rPr lang="en" sz="1100">
                <a:latin typeface="IBM Plex Sans Medium"/>
                <a:ea typeface="IBM Plex Sans Medium"/>
                <a:cs typeface="IBM Plex Sans Medium"/>
                <a:sym typeface="IBM Plex Sans Medium"/>
              </a:rPr>
              <a:t>’s), </a:t>
            </a:r>
            <a:r>
              <a:rPr lang="en" sz="1100">
                <a:latin typeface="IBM Plex Sans Medium"/>
                <a:ea typeface="IBM Plex Sans Medium"/>
                <a:cs typeface="IBM Plex Sans Medium"/>
                <a:sym typeface="IBM Plex Sans Medium"/>
              </a:rPr>
              <a:t>which</a:t>
            </a:r>
            <a:r>
              <a:rPr lang="en" sz="1100">
                <a:latin typeface="IBM Plex Sans Medium"/>
                <a:ea typeface="IBM Plex Sans Medium"/>
                <a:cs typeface="IBM Plex Sans Medium"/>
                <a:sym typeface="IBM Plex Sans Medium"/>
              </a:rPr>
              <a:t> in turn are a highly non-linear function of the species mass fractions (Y</a:t>
            </a:r>
            <a:r>
              <a:rPr baseline="-25000" lang="en" sz="1100">
                <a:latin typeface="IBM Plex Sans Medium"/>
                <a:ea typeface="IBM Plex Sans Medium"/>
                <a:cs typeface="IBM Plex Sans Medium"/>
                <a:sym typeface="IBM Plex Sans Medium"/>
              </a:rPr>
              <a:t>i</a:t>
            </a:r>
            <a:r>
              <a:rPr lang="en" sz="1100">
                <a:latin typeface="IBM Plex Sans Medium"/>
                <a:ea typeface="IBM Plex Sans Medium"/>
                <a:cs typeface="IBM Plex Sans Medium"/>
                <a:sym typeface="IBM Plex Sans Medium"/>
              </a:rPr>
              <a:t>’s).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lnSpc>
                <a:spcPct val="115000"/>
              </a:lnSpc>
              <a:spcBef>
                <a:spcPts val="0"/>
              </a:spcBef>
              <a:spcAft>
                <a:spcPts val="0"/>
              </a:spcAft>
              <a:buNone/>
            </a:pPr>
            <a:r>
              <a:t/>
            </a:r>
            <a:endParaRPr sz="1100">
              <a:latin typeface="IBM Plex Sans Medium"/>
              <a:ea typeface="IBM Plex Sans Medium"/>
              <a:cs typeface="IBM Plex Sans Medium"/>
              <a:sym typeface="IBM Plex Sans Medium"/>
            </a:endParaRPr>
          </a:p>
        </p:txBody>
      </p:sp>
      <p:sp>
        <p:nvSpPr>
          <p:cNvPr id="920" name="Google Shape;920;p54"/>
          <p:cNvSpPr/>
          <p:nvPr/>
        </p:nvSpPr>
        <p:spPr>
          <a:xfrm flipH="1" rot="10800000">
            <a:off x="3419100" y="141783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1" name="Google Shape;921;p54"/>
          <p:cNvSpPr txBox="1"/>
          <p:nvPr/>
        </p:nvSpPr>
        <p:spPr>
          <a:xfrm>
            <a:off x="142450" y="457200"/>
            <a:ext cx="2388600" cy="12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lt1"/>
                </a:solidFill>
                <a:latin typeface="IBM Plex Sans"/>
                <a:ea typeface="IBM Plex Sans"/>
                <a:cs typeface="IBM Plex Sans"/>
                <a:sym typeface="IBM Plex Sans"/>
              </a:rPr>
              <a:t>System </a:t>
            </a:r>
            <a:endParaRPr b="1" sz="2600">
              <a:solidFill>
                <a:schemeClr val="lt1"/>
              </a:solidFill>
              <a:latin typeface="IBM Plex Sans"/>
              <a:ea typeface="IBM Plex Sans"/>
              <a:cs typeface="IBM Plex Sans"/>
              <a:sym typeface="IBM Plex Sans"/>
            </a:endParaRPr>
          </a:p>
          <a:p>
            <a:pPr indent="0" lvl="0" marL="0" rtl="0" algn="l">
              <a:spcBef>
                <a:spcPts val="0"/>
              </a:spcBef>
              <a:spcAft>
                <a:spcPts val="0"/>
              </a:spcAft>
              <a:buNone/>
            </a:pPr>
            <a:r>
              <a:rPr b="1" lang="en" sz="2600">
                <a:solidFill>
                  <a:schemeClr val="lt1"/>
                </a:solidFill>
                <a:latin typeface="IBM Plex Sans"/>
                <a:ea typeface="IBM Plex Sans"/>
                <a:cs typeface="IBM Plex Sans"/>
                <a:sym typeface="IBM Plex Sans"/>
              </a:rPr>
              <a:t>State:</a:t>
            </a:r>
            <a:endParaRPr b="1" sz="2600">
              <a:solidFill>
                <a:schemeClr val="lt1"/>
              </a:solidFill>
              <a:latin typeface="IBM Plex Sans"/>
              <a:ea typeface="IBM Plex Sans"/>
              <a:cs typeface="IBM Plex Sans"/>
              <a:sym typeface="IBM Plex Sans"/>
            </a:endParaRPr>
          </a:p>
        </p:txBody>
      </p:sp>
      <p:sp>
        <p:nvSpPr>
          <p:cNvPr id="922" name="Google Shape;922;p54"/>
          <p:cNvSpPr txBox="1"/>
          <p:nvPr/>
        </p:nvSpPr>
        <p:spPr>
          <a:xfrm>
            <a:off x="2530975" y="166475"/>
            <a:ext cx="6333900" cy="10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IBM Plex Sans Medium"/>
                <a:ea typeface="IBM Plex Sans Medium"/>
                <a:cs typeface="IBM Plex Sans Medium"/>
                <a:sym typeface="IBM Plex Sans Medium"/>
              </a:rPr>
              <a:t>The chemical state of the system is completely defined by a single vector, u.</a:t>
            </a:r>
            <a:endParaRPr sz="1100">
              <a:latin typeface="IBM Plex Sans Medium"/>
              <a:ea typeface="IBM Plex Sans Medium"/>
              <a:cs typeface="IBM Plex Sans Medium"/>
              <a:sym typeface="IBM Plex Sans Medium"/>
            </a:endParaRPr>
          </a:p>
          <a:p>
            <a:pPr indent="0" lvl="0" marL="0" rtl="0" algn="ctr">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Medium"/>
              <a:ea typeface="IBM Plex Sans Medium"/>
              <a:cs typeface="IBM Plex Sans Medium"/>
              <a:sym typeface="IBM Plex Sans Medium"/>
            </a:endParaRPr>
          </a:p>
          <a:p>
            <a:pPr indent="0" lvl="0" marL="0" rtl="0" algn="l">
              <a:spcBef>
                <a:spcPts val="0"/>
              </a:spcBef>
              <a:spcAft>
                <a:spcPts val="0"/>
              </a:spcAft>
              <a:buNone/>
            </a:pPr>
            <a:r>
              <a:rPr lang="en" sz="1100">
                <a:latin typeface="IBM Plex Sans Medium"/>
                <a:ea typeface="IBM Plex Sans Medium"/>
                <a:cs typeface="IBM Plex Sans Medium"/>
                <a:sym typeface="IBM Plex Sans Medium"/>
              </a:rPr>
              <a:t>In the H2/Air 0D simulations we have 11 variables (10 </a:t>
            </a:r>
            <a:r>
              <a:rPr lang="en" sz="1100">
                <a:latin typeface="IBM Plex Sans Medium"/>
                <a:ea typeface="IBM Plex Sans Medium"/>
                <a:cs typeface="IBM Plex Sans Medium"/>
                <a:sym typeface="IBM Plex Sans Medium"/>
              </a:rPr>
              <a:t>Y</a:t>
            </a:r>
            <a:r>
              <a:rPr baseline="-25000" lang="en" sz="1100">
                <a:latin typeface="IBM Plex Sans Medium"/>
                <a:ea typeface="IBM Plex Sans Medium"/>
                <a:cs typeface="IBM Plex Sans Medium"/>
                <a:sym typeface="IBM Plex Sans Medium"/>
              </a:rPr>
              <a:t>k</a:t>
            </a:r>
            <a:r>
              <a:rPr lang="en" sz="1100">
                <a:latin typeface="IBM Plex Sans Medium"/>
                <a:ea typeface="IBM Plex Sans Medium"/>
                <a:cs typeface="IBM Plex Sans Medium"/>
                <a:sym typeface="IBM Plex Sans Medium"/>
              </a:rPr>
              <a:t>’s and T). </a:t>
            </a:r>
            <a:endParaRPr sz="1100">
              <a:latin typeface="IBM Plex Sans Medium"/>
              <a:ea typeface="IBM Plex Sans Medium"/>
              <a:cs typeface="IBM Plex Sans Medium"/>
              <a:sym typeface="IBM Plex Sans Medium"/>
            </a:endParaRPr>
          </a:p>
        </p:txBody>
      </p:sp>
      <p:pic>
        <p:nvPicPr>
          <p:cNvPr id="923" name="Google Shape;923;p54"/>
          <p:cNvPicPr preferRelativeResize="0"/>
          <p:nvPr/>
        </p:nvPicPr>
        <p:blipFill>
          <a:blip r:embed="rId3">
            <a:alphaModFix/>
          </a:blip>
          <a:stretch>
            <a:fillRect/>
          </a:stretch>
        </p:blipFill>
        <p:spPr>
          <a:xfrm>
            <a:off x="4649400" y="457200"/>
            <a:ext cx="1939201" cy="337420"/>
          </a:xfrm>
          <a:prstGeom prst="rect">
            <a:avLst/>
          </a:prstGeom>
          <a:noFill/>
          <a:ln>
            <a:noFill/>
          </a:ln>
        </p:spPr>
      </p:pic>
      <p:pic>
        <p:nvPicPr>
          <p:cNvPr id="924" name="Google Shape;924;p54"/>
          <p:cNvPicPr preferRelativeResize="0"/>
          <p:nvPr/>
        </p:nvPicPr>
        <p:blipFill>
          <a:blip r:embed="rId4">
            <a:alphaModFix/>
          </a:blip>
          <a:stretch>
            <a:fillRect/>
          </a:stretch>
        </p:blipFill>
        <p:spPr>
          <a:xfrm>
            <a:off x="3033325" y="2059975"/>
            <a:ext cx="3415100" cy="1395950"/>
          </a:xfrm>
          <a:prstGeom prst="rect">
            <a:avLst/>
          </a:prstGeom>
          <a:noFill/>
          <a:ln>
            <a:noFill/>
          </a:ln>
        </p:spPr>
      </p:pic>
      <p:pic>
        <p:nvPicPr>
          <p:cNvPr id="925" name="Google Shape;925;p54"/>
          <p:cNvPicPr preferRelativeResize="0"/>
          <p:nvPr/>
        </p:nvPicPr>
        <p:blipFill>
          <a:blip r:embed="rId5">
            <a:alphaModFix/>
          </a:blip>
          <a:stretch>
            <a:fillRect/>
          </a:stretch>
        </p:blipFill>
        <p:spPr>
          <a:xfrm>
            <a:off x="6802800" y="2192500"/>
            <a:ext cx="1583400" cy="8946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txBox="1"/>
          <p:nvPr>
            <p:ph type="title"/>
          </p:nvPr>
        </p:nvSpPr>
        <p:spPr>
          <a:xfrm>
            <a:off x="115025" y="502775"/>
            <a:ext cx="5829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Dataset</a:t>
            </a:r>
            <a:endParaRPr b="1"/>
          </a:p>
        </p:txBody>
      </p:sp>
      <p:pic>
        <p:nvPicPr>
          <p:cNvPr id="931" name="Google Shape;931;p55"/>
          <p:cNvPicPr preferRelativeResize="0"/>
          <p:nvPr/>
        </p:nvPicPr>
        <p:blipFill>
          <a:blip r:embed="rId3">
            <a:alphaModFix/>
          </a:blip>
          <a:stretch>
            <a:fillRect/>
          </a:stretch>
        </p:blipFill>
        <p:spPr>
          <a:xfrm>
            <a:off x="224525" y="2812575"/>
            <a:ext cx="8595998" cy="1254100"/>
          </a:xfrm>
          <a:prstGeom prst="rect">
            <a:avLst/>
          </a:prstGeom>
          <a:noFill/>
          <a:ln>
            <a:noFill/>
          </a:ln>
        </p:spPr>
      </p:pic>
      <p:sp>
        <p:nvSpPr>
          <p:cNvPr id="932" name="Google Shape;932;p55"/>
          <p:cNvSpPr txBox="1"/>
          <p:nvPr/>
        </p:nvSpPr>
        <p:spPr>
          <a:xfrm>
            <a:off x="342000" y="1553700"/>
            <a:ext cx="8230800" cy="6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IBM Plex Sans"/>
                <a:ea typeface="IBM Plex Sans"/>
                <a:cs typeface="IBM Plex Sans"/>
                <a:sym typeface="IBM Plex Sans"/>
              </a:rPr>
              <a:t>H2/Air constant pressure 0D combustion dataset with </a:t>
            </a:r>
            <a:r>
              <a:rPr lang="en" sz="1200">
                <a:solidFill>
                  <a:schemeClr val="lt1"/>
                </a:solidFill>
                <a:latin typeface="IBM Plex Sans"/>
                <a:ea typeface="IBM Plex Sans"/>
                <a:cs typeface="IBM Plex Sans"/>
                <a:sym typeface="IBM Plex Sans"/>
              </a:rPr>
              <a:t>irregular</a:t>
            </a:r>
            <a:r>
              <a:rPr lang="en" sz="1200">
                <a:solidFill>
                  <a:schemeClr val="lt1"/>
                </a:solidFill>
                <a:latin typeface="IBM Plex Sans"/>
                <a:ea typeface="IBM Plex Sans"/>
                <a:cs typeface="IBM Plex Sans"/>
                <a:sym typeface="IBM Plex Sans"/>
              </a:rPr>
              <a:t> time step sizes. </a:t>
            </a:r>
            <a:endParaRPr sz="1200">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sz="1200">
              <a:solidFill>
                <a:schemeClr val="lt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lt1"/>
                </a:solidFill>
                <a:latin typeface="IBM Plex Sans"/>
                <a:ea typeface="IBM Plex Sans"/>
                <a:cs typeface="IBM Plex Sans"/>
                <a:sym typeface="IBM Plex Sans"/>
              </a:rPr>
              <a:t>ChemFoam solver in OpenFoam was used to generate this dataset. </a:t>
            </a:r>
            <a:endParaRPr sz="1200">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p:txBody>
      </p:sp>
      <p:cxnSp>
        <p:nvCxnSpPr>
          <p:cNvPr id="933" name="Google Shape;933;p55"/>
          <p:cNvCxnSpPr/>
          <p:nvPr/>
        </p:nvCxnSpPr>
        <p:spPr>
          <a:xfrm>
            <a:off x="498338" y="2471925"/>
            <a:ext cx="7683000" cy="0"/>
          </a:xfrm>
          <a:prstGeom prst="straightConnector1">
            <a:avLst/>
          </a:prstGeom>
          <a:noFill/>
          <a:ln cap="flat" cmpd="sng" w="9525">
            <a:solidFill>
              <a:schemeClr val="accent5"/>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56"/>
          <p:cNvSpPr txBox="1"/>
          <p:nvPr>
            <p:ph idx="3" type="title"/>
          </p:nvPr>
        </p:nvSpPr>
        <p:spPr>
          <a:xfrm>
            <a:off x="228600" y="1049776"/>
            <a:ext cx="2269800" cy="380700"/>
          </a:xfrm>
          <a:prstGeom prst="rect">
            <a:avLst/>
          </a:prstGeom>
        </p:spPr>
        <p:txBody>
          <a:bodyPr anchorCtr="0" anchor="t" bIns="124250" lIns="124250" spcFirstLastPara="1" rIns="124250" wrap="square" tIns="124250">
            <a:noAutofit/>
          </a:bodyPr>
          <a:lstStyle/>
          <a:p>
            <a:pPr indent="0" lvl="0" marL="0" marR="0" rtl="0" algn="l">
              <a:lnSpc>
                <a:spcPct val="90000"/>
              </a:lnSpc>
              <a:spcBef>
                <a:spcPts val="0"/>
              </a:spcBef>
              <a:spcAft>
                <a:spcPts val="0"/>
              </a:spcAft>
              <a:buNone/>
            </a:pPr>
            <a:r>
              <a:rPr lang="en" sz="1630"/>
              <a:t>Residual Neural Nets</a:t>
            </a:r>
            <a:endParaRPr sz="1630"/>
          </a:p>
        </p:txBody>
      </p:sp>
      <p:sp>
        <p:nvSpPr>
          <p:cNvPr id="939" name="Google Shape;939;p56"/>
          <p:cNvSpPr txBox="1"/>
          <p:nvPr>
            <p:ph idx="2" type="title"/>
          </p:nvPr>
        </p:nvSpPr>
        <p:spPr>
          <a:xfrm>
            <a:off x="93300" y="29550"/>
            <a:ext cx="6122700" cy="98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SciML Techniques</a:t>
            </a:r>
            <a:endParaRPr b="1"/>
          </a:p>
          <a:p>
            <a:pPr indent="0" lvl="0" marL="0" rtl="0" algn="l">
              <a:spcBef>
                <a:spcPts val="0"/>
              </a:spcBef>
              <a:spcAft>
                <a:spcPts val="0"/>
              </a:spcAft>
              <a:buNone/>
            </a:pPr>
            <a:r>
              <a:rPr lang="en" sz="1100"/>
              <a:t>We can use many SciML techniques that can be used to create fast surrogate models for the stiff chemical kinetics. We can use </a:t>
            </a:r>
            <a:r>
              <a:rPr lang="en" sz="1100"/>
              <a:t>MLP(with ‘physics’ loss term) or Recurrent Neural nets or ..</a:t>
            </a:r>
            <a:endParaRPr sz="1100"/>
          </a:p>
        </p:txBody>
      </p:sp>
      <p:sp>
        <p:nvSpPr>
          <p:cNvPr id="940" name="Google Shape;940;p56"/>
          <p:cNvSpPr txBox="1"/>
          <p:nvPr>
            <p:ph idx="4" type="title"/>
          </p:nvPr>
        </p:nvSpPr>
        <p:spPr>
          <a:xfrm>
            <a:off x="5133219" y="1103696"/>
            <a:ext cx="2493000" cy="706800"/>
          </a:xfrm>
          <a:prstGeom prst="rect">
            <a:avLst/>
          </a:prstGeom>
        </p:spPr>
        <p:txBody>
          <a:bodyPr anchorCtr="0" anchor="t" bIns="124250" lIns="124250" spcFirstLastPara="1" rIns="124250" wrap="square" tIns="124250">
            <a:noAutofit/>
          </a:bodyPr>
          <a:lstStyle/>
          <a:p>
            <a:pPr indent="0" lvl="0" marL="0" rtl="0" algn="l">
              <a:spcBef>
                <a:spcPts val="0"/>
              </a:spcBef>
              <a:spcAft>
                <a:spcPts val="0"/>
              </a:spcAft>
              <a:buNone/>
            </a:pPr>
            <a:r>
              <a:rPr lang="en" sz="1630"/>
              <a:t>Neural ODE Framework</a:t>
            </a:r>
            <a:endParaRPr sz="1630"/>
          </a:p>
        </p:txBody>
      </p:sp>
      <p:sp>
        <p:nvSpPr>
          <p:cNvPr id="941" name="Google Shape;941;p56"/>
          <p:cNvSpPr txBox="1"/>
          <p:nvPr>
            <p:ph idx="1" type="body"/>
          </p:nvPr>
        </p:nvSpPr>
        <p:spPr>
          <a:xfrm>
            <a:off x="1547950" y="1462500"/>
            <a:ext cx="2184300" cy="2220000"/>
          </a:xfrm>
          <a:prstGeom prst="rect">
            <a:avLst/>
          </a:prstGeom>
        </p:spPr>
        <p:txBody>
          <a:bodyPr anchorCtr="0" anchor="t" bIns="124250" lIns="124250" spcFirstLastPara="1" rIns="124250" wrap="square" tIns="124250">
            <a:noAutofit/>
          </a:bodyPr>
          <a:lstStyle/>
          <a:p>
            <a:pPr indent="0" lvl="0" marL="0" rtl="0" algn="l">
              <a:lnSpc>
                <a:spcPct val="90000"/>
              </a:lnSpc>
              <a:spcBef>
                <a:spcPts val="0"/>
              </a:spcBef>
              <a:spcAft>
                <a:spcPts val="0"/>
              </a:spcAft>
              <a:buSzPts val="358"/>
              <a:buNone/>
            </a:pPr>
            <a:r>
              <a:rPr lang="en" sz="1100">
                <a:solidFill>
                  <a:schemeClr val="dk1"/>
                </a:solidFill>
                <a:latin typeface="IBM Plex Sans"/>
                <a:ea typeface="IBM Plex Sans"/>
                <a:cs typeface="IBM Plex Sans"/>
                <a:sym typeface="IBM Plex Sans"/>
              </a:rPr>
              <a:t>A ResNet acts like a sequence of discrete steps, where each layer adds a learned "residual" F(u) to its input.</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rPr lang="en" sz="1100">
                <a:solidFill>
                  <a:schemeClr val="dk1"/>
                </a:solidFill>
                <a:latin typeface="IBM Plex Sans"/>
                <a:ea typeface="IBM Plex Sans"/>
                <a:cs typeface="IBM Plex Sans"/>
                <a:sym typeface="IBM Plex Sans"/>
              </a:rPr>
              <a:t>Resnet Update Rule:</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rPr lang="en" sz="1100">
                <a:solidFill>
                  <a:schemeClr val="dk1"/>
                </a:solidFill>
                <a:latin typeface="IBM Plex Sans"/>
                <a:ea typeface="IBM Plex Sans"/>
                <a:cs typeface="IBM Plex Sans"/>
                <a:sym typeface="IBM Plex Sans"/>
              </a:rPr>
              <a:t>Euler Explicit Update Rule:</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SzPts val="358"/>
              <a:buNone/>
            </a:pPr>
            <a:r>
              <a:t/>
            </a:r>
            <a:endParaRPr sz="1100">
              <a:solidFill>
                <a:schemeClr val="dk1"/>
              </a:solidFill>
              <a:latin typeface="IBM Plex Sans"/>
              <a:ea typeface="IBM Plex Sans"/>
              <a:cs typeface="IBM Plex Sans"/>
              <a:sym typeface="IBM Plex Sans"/>
            </a:endParaRPr>
          </a:p>
        </p:txBody>
      </p:sp>
      <p:sp>
        <p:nvSpPr>
          <p:cNvPr id="942" name="Google Shape;942;p56"/>
          <p:cNvSpPr txBox="1"/>
          <p:nvPr>
            <p:ph idx="7" type="body"/>
          </p:nvPr>
        </p:nvSpPr>
        <p:spPr>
          <a:xfrm>
            <a:off x="4439250" y="1604275"/>
            <a:ext cx="3727200" cy="3154500"/>
          </a:xfrm>
          <a:prstGeom prst="rect">
            <a:avLst/>
          </a:prstGeom>
        </p:spPr>
        <p:txBody>
          <a:bodyPr anchorCtr="0" anchor="t" bIns="124250" lIns="124250" spcFirstLastPara="1" rIns="124250" wrap="square" tIns="124250">
            <a:normAutofit/>
          </a:bodyPr>
          <a:lstStyle/>
          <a:p>
            <a:pPr indent="0" lvl="0" marL="0" rtl="0" algn="l">
              <a:lnSpc>
                <a:spcPct val="90000"/>
              </a:lnSpc>
              <a:spcBef>
                <a:spcPts val="0"/>
              </a:spcBef>
              <a:spcAft>
                <a:spcPts val="0"/>
              </a:spcAft>
              <a:buNone/>
            </a:pPr>
            <a:r>
              <a:rPr lang="en" sz="1100">
                <a:solidFill>
                  <a:schemeClr val="dk1"/>
                </a:solidFill>
                <a:latin typeface="IBM Plex Sans"/>
                <a:ea typeface="IBM Plex Sans"/>
                <a:cs typeface="IBM Plex Sans"/>
                <a:sym typeface="IBM Plex Sans"/>
              </a:rPr>
              <a:t>A Neural ODE learns the continuous dynamics of the system by modeling the differential function f(u, t) with a neural network.</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rPr lang="en" sz="1100">
                <a:solidFill>
                  <a:schemeClr val="dk1"/>
                </a:solidFill>
                <a:latin typeface="IBM Plex Sans"/>
                <a:ea typeface="IBM Plex Sans"/>
                <a:cs typeface="IBM Plex Sans"/>
                <a:sym typeface="IBM Plex Sans"/>
              </a:rPr>
              <a:t>This learned function f is then handed to a sophisticated external ODE solver (e.g., Runge-Kutta), which integrates the state forward in time with high accuracy.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rPr lang="en" sz="1100">
                <a:solidFill>
                  <a:schemeClr val="dk1"/>
                </a:solidFill>
                <a:latin typeface="IBM Plex Sans"/>
                <a:ea typeface="IBM Plex Sans"/>
                <a:cs typeface="IBM Plex Sans"/>
                <a:sym typeface="IBM Plex Sans"/>
              </a:rPr>
              <a:t>Key Advantage: This decouples the physics model from the numerical solver. It avoids the fixed truncation error of ResNets by leveraging powerful, adaptive solvers, leading to more accurate and stable predictions. </a:t>
            </a:r>
            <a:endParaRPr sz="1100">
              <a:solidFill>
                <a:schemeClr val="dk1"/>
              </a:solidFill>
              <a:latin typeface="IBM Plex Sans"/>
              <a:ea typeface="IBM Plex Sans"/>
              <a:cs typeface="IBM Plex Sans"/>
              <a:sym typeface="IBM Plex Sans"/>
            </a:endParaRPr>
          </a:p>
          <a:p>
            <a:pPr indent="0" lvl="0" marL="0" rtl="0" algn="l">
              <a:lnSpc>
                <a:spcPct val="90000"/>
              </a:lnSpc>
              <a:spcBef>
                <a:spcPts val="0"/>
              </a:spcBef>
              <a:spcAft>
                <a:spcPts val="0"/>
              </a:spcAft>
              <a:buNone/>
            </a:pPr>
            <a:r>
              <a:t/>
            </a:r>
            <a:endParaRPr sz="1100">
              <a:solidFill>
                <a:schemeClr val="dk1"/>
              </a:solidFill>
              <a:latin typeface="Arial"/>
              <a:ea typeface="Arial"/>
              <a:cs typeface="Arial"/>
              <a:sym typeface="Arial"/>
            </a:endParaRPr>
          </a:p>
          <a:p>
            <a:pPr indent="0" lvl="0" marL="0" rtl="0" algn="l">
              <a:lnSpc>
                <a:spcPct val="90000"/>
              </a:lnSpc>
              <a:spcBef>
                <a:spcPts val="0"/>
              </a:spcBef>
              <a:spcAft>
                <a:spcPts val="0"/>
              </a:spcAft>
              <a:buNone/>
            </a:pPr>
            <a:r>
              <a:t/>
            </a:r>
            <a:endParaRPr sz="1100">
              <a:solidFill>
                <a:schemeClr val="dk1"/>
              </a:solidFill>
              <a:latin typeface="Arial"/>
              <a:ea typeface="Arial"/>
              <a:cs typeface="Arial"/>
              <a:sym typeface="Arial"/>
            </a:endParaRPr>
          </a:p>
        </p:txBody>
      </p:sp>
      <p:cxnSp>
        <p:nvCxnSpPr>
          <p:cNvPr id="943" name="Google Shape;943;p56"/>
          <p:cNvCxnSpPr/>
          <p:nvPr/>
        </p:nvCxnSpPr>
        <p:spPr>
          <a:xfrm rot="5400000">
            <a:off x="3024750" y="3148650"/>
            <a:ext cx="2489100" cy="0"/>
          </a:xfrm>
          <a:prstGeom prst="straightConnector1">
            <a:avLst/>
          </a:prstGeom>
          <a:noFill/>
          <a:ln cap="flat" cmpd="sng" w="19050">
            <a:solidFill>
              <a:schemeClr val="accent5"/>
            </a:solidFill>
            <a:prstDash val="solid"/>
            <a:round/>
            <a:headEnd len="med" w="med" type="none"/>
            <a:tailEnd len="med" w="med" type="none"/>
          </a:ln>
        </p:spPr>
      </p:cxnSp>
      <p:pic>
        <p:nvPicPr>
          <p:cNvPr id="944" name="Google Shape;944;p56"/>
          <p:cNvPicPr preferRelativeResize="0"/>
          <p:nvPr/>
        </p:nvPicPr>
        <p:blipFill>
          <a:blip r:embed="rId3">
            <a:alphaModFix/>
          </a:blip>
          <a:stretch>
            <a:fillRect/>
          </a:stretch>
        </p:blipFill>
        <p:spPr>
          <a:xfrm>
            <a:off x="406275" y="1604273"/>
            <a:ext cx="1077284" cy="2220025"/>
          </a:xfrm>
          <a:prstGeom prst="rect">
            <a:avLst/>
          </a:prstGeom>
          <a:noFill/>
          <a:ln>
            <a:noFill/>
          </a:ln>
        </p:spPr>
      </p:pic>
      <p:pic>
        <p:nvPicPr>
          <p:cNvPr id="945" name="Google Shape;945;p56"/>
          <p:cNvPicPr preferRelativeResize="0"/>
          <p:nvPr/>
        </p:nvPicPr>
        <p:blipFill>
          <a:blip r:embed="rId4">
            <a:alphaModFix/>
          </a:blip>
          <a:stretch>
            <a:fillRect/>
          </a:stretch>
        </p:blipFill>
        <p:spPr>
          <a:xfrm>
            <a:off x="1901800" y="2571750"/>
            <a:ext cx="1476575" cy="285081"/>
          </a:xfrm>
          <a:prstGeom prst="rect">
            <a:avLst/>
          </a:prstGeom>
          <a:noFill/>
          <a:ln>
            <a:noFill/>
          </a:ln>
        </p:spPr>
      </p:pic>
      <p:pic>
        <p:nvPicPr>
          <p:cNvPr id="946" name="Google Shape;946;p56"/>
          <p:cNvPicPr preferRelativeResize="0"/>
          <p:nvPr/>
        </p:nvPicPr>
        <p:blipFill>
          <a:blip r:embed="rId5">
            <a:alphaModFix/>
          </a:blip>
          <a:stretch>
            <a:fillRect/>
          </a:stretch>
        </p:blipFill>
        <p:spPr>
          <a:xfrm>
            <a:off x="1801913" y="3195250"/>
            <a:ext cx="1861307" cy="285075"/>
          </a:xfrm>
          <a:prstGeom prst="rect">
            <a:avLst/>
          </a:prstGeom>
          <a:noFill/>
          <a:ln>
            <a:noFill/>
          </a:ln>
        </p:spPr>
      </p:pic>
      <p:sp>
        <p:nvSpPr>
          <p:cNvPr id="947" name="Google Shape;947;p56"/>
          <p:cNvSpPr txBox="1"/>
          <p:nvPr/>
        </p:nvSpPr>
        <p:spPr>
          <a:xfrm>
            <a:off x="294900" y="3983175"/>
            <a:ext cx="3727200" cy="929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dk1"/>
                </a:solidFill>
                <a:latin typeface="IBM Plex Sans"/>
                <a:ea typeface="IBM Plex Sans"/>
                <a:cs typeface="IBM Plex Sans"/>
                <a:sym typeface="IBM Plex Sans"/>
              </a:rPr>
              <a:t>Key Limitation: This structure is locked into a simple, fixed-step integration scheme. This introduces a first-order truncation error at every layer, fundamentally limiting the model's accuracy, regardless of how well it learns the function F.</a:t>
            </a:r>
            <a:endParaRPr sz="1200">
              <a:solidFill>
                <a:schemeClr val="lt1"/>
              </a:solidFill>
              <a:latin typeface="Sora"/>
              <a:ea typeface="Sora"/>
              <a:cs typeface="Sora"/>
              <a:sym typeface="Sora"/>
            </a:endParaRPr>
          </a:p>
        </p:txBody>
      </p:sp>
      <p:pic>
        <p:nvPicPr>
          <p:cNvPr id="948" name="Google Shape;948;p56"/>
          <p:cNvPicPr preferRelativeResize="0"/>
          <p:nvPr/>
        </p:nvPicPr>
        <p:blipFill>
          <a:blip r:embed="rId6">
            <a:alphaModFix/>
          </a:blip>
          <a:stretch>
            <a:fillRect/>
          </a:stretch>
        </p:blipFill>
        <p:spPr>
          <a:xfrm>
            <a:off x="4516125" y="2362500"/>
            <a:ext cx="3727200" cy="2804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cxnSp>
        <p:nvCxnSpPr>
          <p:cNvPr id="953" name="Google Shape;953;p57"/>
          <p:cNvCxnSpPr/>
          <p:nvPr/>
        </p:nvCxnSpPr>
        <p:spPr>
          <a:xfrm>
            <a:off x="89163" y="798900"/>
            <a:ext cx="7683000" cy="0"/>
          </a:xfrm>
          <a:prstGeom prst="straightConnector1">
            <a:avLst/>
          </a:prstGeom>
          <a:noFill/>
          <a:ln cap="flat" cmpd="sng" w="9525">
            <a:solidFill>
              <a:schemeClr val="accent5"/>
            </a:solidFill>
            <a:prstDash val="solid"/>
            <a:round/>
            <a:headEnd len="med" w="med" type="none"/>
            <a:tailEnd len="med" w="med" type="none"/>
          </a:ln>
        </p:spPr>
      </p:cxnSp>
      <p:sp>
        <p:nvSpPr>
          <p:cNvPr id="954" name="Google Shape;954;p57"/>
          <p:cNvSpPr txBox="1"/>
          <p:nvPr>
            <p:ph type="title"/>
          </p:nvPr>
        </p:nvSpPr>
        <p:spPr>
          <a:xfrm>
            <a:off x="89175" y="115500"/>
            <a:ext cx="5829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Neural ODE(NODE) </a:t>
            </a:r>
            <a:endParaRPr b="1"/>
          </a:p>
        </p:txBody>
      </p:sp>
      <p:pic>
        <p:nvPicPr>
          <p:cNvPr id="955" name="Google Shape;955;p57"/>
          <p:cNvPicPr preferRelativeResize="0"/>
          <p:nvPr/>
        </p:nvPicPr>
        <p:blipFill>
          <a:blip r:embed="rId3">
            <a:alphaModFix/>
          </a:blip>
          <a:stretch>
            <a:fillRect/>
          </a:stretch>
        </p:blipFill>
        <p:spPr>
          <a:xfrm>
            <a:off x="3584775" y="1842175"/>
            <a:ext cx="5330625" cy="2803450"/>
          </a:xfrm>
          <a:prstGeom prst="rect">
            <a:avLst/>
          </a:prstGeom>
          <a:noFill/>
          <a:ln>
            <a:noFill/>
          </a:ln>
        </p:spPr>
      </p:pic>
      <p:sp>
        <p:nvSpPr>
          <p:cNvPr id="956" name="Google Shape;956;p57"/>
          <p:cNvSpPr txBox="1"/>
          <p:nvPr/>
        </p:nvSpPr>
        <p:spPr>
          <a:xfrm>
            <a:off x="158600" y="978150"/>
            <a:ext cx="3282600" cy="3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IBM Plex Sans"/>
                <a:ea typeface="IBM Plex Sans"/>
                <a:cs typeface="IBM Plex Sans"/>
                <a:sym typeface="IBM Plex Sans"/>
              </a:rPr>
              <a:t>Neural ODE</a:t>
            </a:r>
            <a:r>
              <a:rPr lang="en" sz="1100">
                <a:latin typeface="IBM Plex Sans"/>
                <a:ea typeface="IBM Plex Sans"/>
                <a:cs typeface="IBM Plex Sans"/>
                <a:sym typeface="IBM Plex Sans"/>
              </a:rPr>
              <a:t> models the instantaneous rate of change (the derivative </a:t>
            </a:r>
            <a:r>
              <a:rPr lang="en" sz="1100">
                <a:solidFill>
                  <a:srgbClr val="188038"/>
                </a:solidFill>
                <a:latin typeface="IBM Plex Sans"/>
                <a:ea typeface="IBM Plex Sans"/>
                <a:cs typeface="IBM Plex Sans"/>
                <a:sym typeface="IBM Plex Sans"/>
              </a:rPr>
              <a:t>dΦ/dt</a:t>
            </a:r>
            <a:r>
              <a:rPr lang="en" sz="1100">
                <a:latin typeface="IBM Plex Sans"/>
                <a:ea typeface="IBM Plex Sans"/>
                <a:cs typeface="IBM Plex Sans"/>
                <a:sym typeface="IBM Plex Sans"/>
              </a:rPr>
              <a:t>) of a system's state.</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rPr lang="en" sz="1100">
                <a:latin typeface="IBM Plex Sans"/>
                <a:ea typeface="IBM Plex Sans"/>
                <a:cs typeface="IBM Plex Sans"/>
                <a:sym typeface="IBM Plex Sans"/>
              </a:rPr>
              <a:t>The network (Net(Φ,θ,t)) learns the function </a:t>
            </a:r>
            <a:r>
              <a:rPr lang="en" sz="1100">
                <a:solidFill>
                  <a:srgbClr val="188038"/>
                </a:solidFill>
                <a:latin typeface="IBM Plex Sans"/>
                <a:ea typeface="IBM Plex Sans"/>
                <a:cs typeface="IBM Plex Sans"/>
                <a:sym typeface="IBM Plex Sans"/>
              </a:rPr>
              <a:t>f</a:t>
            </a:r>
            <a:r>
              <a:rPr lang="en" sz="1100">
                <a:latin typeface="IBM Plex Sans"/>
                <a:ea typeface="IBM Plex Sans"/>
                <a:cs typeface="IBM Plex Sans"/>
                <a:sym typeface="IBM Plex Sans"/>
              </a:rPr>
              <a:t> in </a:t>
            </a:r>
            <a:r>
              <a:rPr lang="en" sz="1100">
                <a:solidFill>
                  <a:srgbClr val="188038"/>
                </a:solidFill>
                <a:latin typeface="IBM Plex Sans"/>
                <a:ea typeface="IBM Plex Sans"/>
                <a:cs typeface="IBM Plex Sans"/>
                <a:sym typeface="IBM Plex Sans"/>
              </a:rPr>
              <a:t>dΦ/dt = f(Φ, t, θ)</a:t>
            </a:r>
            <a:r>
              <a:rPr lang="en" sz="1100">
                <a:latin typeface="IBM Plex Sans"/>
                <a:ea typeface="IBM Plex Sans"/>
                <a:cs typeface="IBM Plex Sans"/>
                <a:sym typeface="IBM Plex Sans"/>
              </a:rPr>
              <a:t>, where </a:t>
            </a:r>
            <a:r>
              <a:rPr lang="en" sz="1100">
                <a:solidFill>
                  <a:srgbClr val="188038"/>
                </a:solidFill>
                <a:latin typeface="IBM Plex Sans"/>
                <a:ea typeface="IBM Plex Sans"/>
                <a:cs typeface="IBM Plex Sans"/>
                <a:sym typeface="IBM Plex Sans"/>
              </a:rPr>
              <a:t>Φ</a:t>
            </a:r>
            <a:r>
              <a:rPr lang="en" sz="1100">
                <a:latin typeface="IBM Plex Sans"/>
                <a:ea typeface="IBM Plex Sans"/>
                <a:cs typeface="IBM Plex Sans"/>
                <a:sym typeface="IBM Plex Sans"/>
              </a:rPr>
              <a:t> is the state (species mass fractions, temperature), </a:t>
            </a:r>
            <a:r>
              <a:rPr lang="en" sz="1100">
                <a:solidFill>
                  <a:srgbClr val="188038"/>
                </a:solidFill>
                <a:latin typeface="IBM Plex Sans"/>
                <a:ea typeface="IBM Plex Sans"/>
                <a:cs typeface="IBM Plex Sans"/>
                <a:sym typeface="IBM Plex Sans"/>
              </a:rPr>
              <a:t>t</a:t>
            </a:r>
            <a:r>
              <a:rPr lang="en" sz="1100">
                <a:latin typeface="IBM Plex Sans"/>
                <a:ea typeface="IBM Plex Sans"/>
                <a:cs typeface="IBM Plex Sans"/>
                <a:sym typeface="IBM Plex Sans"/>
              </a:rPr>
              <a:t> is time, and </a:t>
            </a:r>
            <a:r>
              <a:rPr lang="en" sz="1100">
                <a:solidFill>
                  <a:srgbClr val="188038"/>
                </a:solidFill>
                <a:latin typeface="IBM Plex Sans"/>
                <a:ea typeface="IBM Plex Sans"/>
                <a:cs typeface="IBM Plex Sans"/>
                <a:sym typeface="IBM Plex Sans"/>
              </a:rPr>
              <a:t>θ</a:t>
            </a:r>
            <a:r>
              <a:rPr lang="en" sz="1100">
                <a:latin typeface="IBM Plex Sans"/>
                <a:ea typeface="IBM Plex Sans"/>
                <a:cs typeface="IBM Plex Sans"/>
                <a:sym typeface="IBM Plex Sans"/>
              </a:rPr>
              <a:t> are the network's parameters.</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rPr lang="en" sz="1100">
                <a:latin typeface="IBM Plex Sans"/>
                <a:ea typeface="IBM Plex Sans"/>
                <a:cs typeface="IBM Plex Sans"/>
                <a:sym typeface="IBM Plex Sans"/>
              </a:rPr>
              <a:t>Once trained, this learned </a:t>
            </a:r>
            <a:r>
              <a:rPr lang="en" sz="1100">
                <a:solidFill>
                  <a:srgbClr val="188038"/>
                </a:solidFill>
                <a:latin typeface="IBM Plex Sans"/>
                <a:ea typeface="IBM Plex Sans"/>
                <a:cs typeface="IBM Plex Sans"/>
                <a:sym typeface="IBM Plex Sans"/>
              </a:rPr>
              <a:t>f</a:t>
            </a:r>
            <a:r>
              <a:rPr lang="en" sz="1100">
                <a:latin typeface="IBM Plex Sans"/>
                <a:ea typeface="IBM Plex Sans"/>
                <a:cs typeface="IBM Plex Sans"/>
                <a:sym typeface="IBM Plex Sans"/>
              </a:rPr>
              <a:t> is the passed on to a numerical solver that  integrates </a:t>
            </a:r>
            <a:r>
              <a:rPr lang="en" sz="1100">
                <a:solidFill>
                  <a:srgbClr val="188038"/>
                </a:solidFill>
                <a:latin typeface="IBM Plex Sans"/>
                <a:ea typeface="IBM Plex Sans"/>
                <a:cs typeface="IBM Plex Sans"/>
                <a:sym typeface="IBM Plex Sans"/>
              </a:rPr>
              <a:t>f</a:t>
            </a:r>
            <a:r>
              <a:rPr lang="en" sz="1100">
                <a:latin typeface="IBM Plex Sans"/>
                <a:ea typeface="IBM Plex Sans"/>
                <a:cs typeface="IBM Plex Sans"/>
                <a:sym typeface="IBM Plex Sans"/>
              </a:rPr>
              <a:t> over a given time interval (</a:t>
            </a:r>
            <a:r>
              <a:rPr lang="en" sz="1100">
                <a:solidFill>
                  <a:srgbClr val="188038"/>
                </a:solidFill>
                <a:latin typeface="IBM Plex Sans"/>
                <a:ea typeface="IBM Plex Sans"/>
                <a:cs typeface="IBM Plex Sans"/>
                <a:sym typeface="IBM Plex Sans"/>
              </a:rPr>
              <a:t>t_0</a:t>
            </a:r>
            <a:r>
              <a:rPr lang="en" sz="1100">
                <a:latin typeface="IBM Plex Sans"/>
                <a:ea typeface="IBM Plex Sans"/>
                <a:cs typeface="IBM Plex Sans"/>
                <a:sym typeface="IBM Plex Sans"/>
              </a:rPr>
              <a:t> to </a:t>
            </a:r>
            <a:r>
              <a:rPr lang="en" sz="1100">
                <a:solidFill>
                  <a:srgbClr val="188038"/>
                </a:solidFill>
                <a:latin typeface="IBM Plex Sans"/>
                <a:ea typeface="IBM Plex Sans"/>
                <a:cs typeface="IBM Plex Sans"/>
                <a:sym typeface="IBM Plex Sans"/>
              </a:rPr>
              <a:t>t_N</a:t>
            </a:r>
            <a:r>
              <a:rPr lang="en" sz="1100">
                <a:latin typeface="IBM Plex Sans"/>
                <a:ea typeface="IBM Plex Sans"/>
                <a:cs typeface="IBM Plex Sans"/>
                <a:sym typeface="IBM Plex Sans"/>
              </a:rPr>
              <a:t>) to predict the system's future state. </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rPr b="1" lang="en" sz="1100">
                <a:latin typeface="IBM Plex Sans"/>
                <a:ea typeface="IBM Plex Sans"/>
                <a:cs typeface="IBM Plex Sans"/>
                <a:sym typeface="IBM Plex Sans"/>
              </a:rPr>
              <a:t>Architecture Training: </a:t>
            </a:r>
            <a:r>
              <a:rPr lang="en" sz="1100">
                <a:latin typeface="IBM Plex Sans"/>
                <a:ea typeface="IBM Plex Sans"/>
                <a:cs typeface="IBM Plex Sans"/>
                <a:sym typeface="IBM Plex Sans"/>
              </a:rPr>
              <a:t>Instead of using the standard backpropagation, we use the Adjoint Sensitivity method to optimise our network parameters </a:t>
            </a:r>
            <a:r>
              <a:rPr lang="en" sz="1100">
                <a:latin typeface="IBM Plex Sans"/>
                <a:ea typeface="IBM Plex Sans"/>
                <a:cs typeface="IBM Plex Sans"/>
                <a:sym typeface="IBM Plex Sans"/>
              </a:rPr>
              <a:t>θ. </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latin typeface="IBM Plex Sans"/>
              <a:ea typeface="IBM Plex Sans"/>
              <a:cs typeface="IBM Plex Sans"/>
              <a:sym typeface="IBM Plex Sans"/>
            </a:endParaRPr>
          </a:p>
          <a:p>
            <a:pPr indent="0" lvl="0" marL="0" rtl="0" algn="l">
              <a:spcBef>
                <a:spcPts val="0"/>
              </a:spcBef>
              <a:spcAft>
                <a:spcPts val="0"/>
              </a:spcAft>
              <a:buNone/>
            </a:pPr>
            <a:r>
              <a:rPr lang="en" sz="1100">
                <a:latin typeface="IBM Plex Sans"/>
                <a:ea typeface="IBM Plex Sans"/>
                <a:cs typeface="IBM Plex Sans"/>
                <a:sym typeface="IBM Plex Sans"/>
              </a:rPr>
              <a:t>Instead of storing the entire computation graph (which would consume immense memory for long integrations), this method solves an auxiliary "adjoint" ODE backward in time.</a:t>
            </a:r>
            <a:endParaRPr sz="1100">
              <a:latin typeface="IBM Plex Sans"/>
              <a:ea typeface="IBM Plex Sans"/>
              <a:cs typeface="IBM Plex Sans"/>
              <a:sym typeface="IBM Plex Sans"/>
            </a:endParaRPr>
          </a:p>
          <a:p>
            <a:pPr indent="0" lvl="0" marL="0" rtl="0" algn="l">
              <a:spcBef>
                <a:spcPts val="0"/>
              </a:spcBef>
              <a:spcAft>
                <a:spcPts val="0"/>
              </a:spcAft>
              <a:buNone/>
            </a:pPr>
            <a:r>
              <a:t/>
            </a:r>
            <a:endParaRPr sz="1100">
              <a:solidFill>
                <a:schemeClr val="lt1"/>
              </a:solidFill>
              <a:latin typeface="IBM Plex Sans"/>
              <a:ea typeface="IBM Plex Sans"/>
              <a:cs typeface="IBM Plex Sans"/>
              <a:sym typeface="IBM Plex Sans"/>
            </a:endParaRPr>
          </a:p>
        </p:txBody>
      </p:sp>
      <p:sp>
        <p:nvSpPr>
          <p:cNvPr id="957" name="Google Shape;957;p57"/>
          <p:cNvSpPr txBox="1"/>
          <p:nvPr/>
        </p:nvSpPr>
        <p:spPr>
          <a:xfrm>
            <a:off x="6802800" y="4645650"/>
            <a:ext cx="2286000" cy="2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BM Plex Sans"/>
                <a:ea typeface="IBM Plex Sans"/>
                <a:cs typeface="IBM Plex Sans"/>
                <a:sym typeface="IBM Plex Sans"/>
              </a:rPr>
              <a:t>Source: Bansude et al. (2022)</a:t>
            </a:r>
            <a:endParaRPr sz="1100">
              <a:solidFill>
                <a:schemeClr val="lt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58"/>
          <p:cNvSpPr txBox="1"/>
          <p:nvPr>
            <p:ph idx="16" type="title"/>
          </p:nvPr>
        </p:nvSpPr>
        <p:spPr>
          <a:xfrm>
            <a:off x="124456" y="115500"/>
            <a:ext cx="71781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References</a:t>
            </a:r>
            <a:endParaRPr b="1"/>
          </a:p>
        </p:txBody>
      </p:sp>
      <p:sp>
        <p:nvSpPr>
          <p:cNvPr id="963" name="Google Shape;963;p58"/>
          <p:cNvSpPr/>
          <p:nvPr/>
        </p:nvSpPr>
        <p:spPr>
          <a:xfrm flipH="1" rot="10800000">
            <a:off x="228600" y="798900"/>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4" name="Google Shape;964;p58"/>
          <p:cNvSpPr txBox="1"/>
          <p:nvPr/>
        </p:nvSpPr>
        <p:spPr>
          <a:xfrm>
            <a:off x="283950" y="971900"/>
            <a:ext cx="8422200" cy="40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lang="en" sz="1100">
                <a:solidFill>
                  <a:schemeClr val="dk1"/>
                </a:solidFill>
                <a:latin typeface="IBM Plex Sans"/>
                <a:ea typeface="IBM Plex Sans"/>
                <a:cs typeface="IBM Plex Sans"/>
                <a:sym typeface="IBM Plex Sans"/>
              </a:rPr>
              <a:t>Neural ODE Frameworks</a:t>
            </a:r>
            <a:endParaRPr sz="1100">
              <a:solidFill>
                <a:schemeClr val="dk1"/>
              </a:solidFill>
              <a:latin typeface="IBM Plex Sans"/>
              <a:ea typeface="IBM Plex Sans"/>
              <a:cs typeface="IBM Plex Sans"/>
              <a:sym typeface="IBM Plex Sans"/>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IBM Plex Sans"/>
                <a:ea typeface="IBM Plex Sans"/>
                <a:cs typeface="IBM Plex Sans"/>
                <a:sym typeface="IBM Plex Sans"/>
              </a:rPr>
              <a:t>Chen, R. T. Q., Rubanova, Y., Bettencourt, J., &amp; Duvenaud, D. (2018). Neural Ordinary Differential Equations. </a:t>
            </a:r>
            <a:r>
              <a:rPr i="1" lang="en" sz="1100">
                <a:solidFill>
                  <a:schemeClr val="dk1"/>
                </a:solidFill>
                <a:latin typeface="IBM Plex Sans"/>
                <a:ea typeface="IBM Plex Sans"/>
                <a:cs typeface="IBM Plex Sans"/>
                <a:sym typeface="IBM Plex Sans"/>
              </a:rPr>
              <a:t>Advances in Neural Information Processing Systems, 31</a:t>
            </a:r>
            <a:r>
              <a:rPr lang="en" sz="1100">
                <a:solidFill>
                  <a:schemeClr val="dk1"/>
                </a:solidFill>
                <a:latin typeface="IBM Plex Sans"/>
                <a:ea typeface="IBM Plex Sans"/>
                <a:cs typeface="IBM Plex Sans"/>
                <a:sym typeface="IBM Plex Sans"/>
              </a:rPr>
              <a:t>.</a:t>
            </a:r>
            <a:endParaRPr sz="1100">
              <a:solidFill>
                <a:schemeClr val="dk1"/>
              </a:solidFill>
              <a:latin typeface="IBM Plex Sans"/>
              <a:ea typeface="IBM Plex Sans"/>
              <a:cs typeface="IBM Plex Sans"/>
              <a:sym typeface="IBM Plex San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IBM Plex Sans"/>
                <a:ea typeface="IBM Plex Sans"/>
                <a:cs typeface="IBM Plex Sans"/>
                <a:sym typeface="IBM Plex Sans"/>
              </a:rPr>
              <a:t>Pal, P., Bhattacharya, S., &amp; Sun, W. (2022). ChemNODE: A latent chemistry framework for efficient chemical kinetic solver. </a:t>
            </a:r>
            <a:r>
              <a:rPr i="1" lang="en" sz="1100">
                <a:solidFill>
                  <a:schemeClr val="dk1"/>
                </a:solidFill>
                <a:latin typeface="IBM Plex Sans"/>
                <a:ea typeface="IBM Plex Sans"/>
                <a:cs typeface="IBM Plex Sans"/>
                <a:sym typeface="IBM Plex Sans"/>
              </a:rPr>
              <a:t>Combustion and Flame, 240</a:t>
            </a:r>
            <a:r>
              <a:rPr lang="en" sz="1100">
                <a:solidFill>
                  <a:schemeClr val="dk1"/>
                </a:solidFill>
                <a:latin typeface="IBM Plex Sans"/>
                <a:ea typeface="IBM Plex Sans"/>
                <a:cs typeface="IBM Plex Sans"/>
                <a:sym typeface="IBM Plex Sans"/>
              </a:rPr>
              <a:t>, 112020.</a:t>
            </a:r>
            <a:endParaRPr sz="1100">
              <a:solidFill>
                <a:schemeClr val="dk1"/>
              </a:solidFill>
              <a:latin typeface="IBM Plex Sans"/>
              <a:ea typeface="IBM Plex Sans"/>
              <a:cs typeface="IBM Plex Sans"/>
              <a:sym typeface="IBM Plex San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IBM Plex Sans"/>
                <a:ea typeface="IBM Plex Sans"/>
                <a:cs typeface="IBM Plex Sans"/>
                <a:sym typeface="IBM Plex Sans"/>
              </a:rPr>
              <a:t>Bansude, S., Pal, P., &amp; Bhattacharya, S. (2022). A data-driven framework for integration of chemical kinetics using neural ordinary differential equations. </a:t>
            </a:r>
            <a:r>
              <a:rPr i="1" lang="en" sz="1100">
                <a:solidFill>
                  <a:schemeClr val="dk1"/>
                </a:solidFill>
                <a:latin typeface="IBM Plex Sans"/>
                <a:ea typeface="IBM Plex Sans"/>
                <a:cs typeface="IBM Plex Sans"/>
                <a:sym typeface="IBM Plex Sans"/>
              </a:rPr>
              <a:t>Combustion and Flame, 239</a:t>
            </a:r>
            <a:r>
              <a:rPr lang="en" sz="1100">
                <a:solidFill>
                  <a:schemeClr val="dk1"/>
                </a:solidFill>
                <a:latin typeface="IBM Plex Sans"/>
                <a:ea typeface="IBM Plex Sans"/>
                <a:cs typeface="IBM Plex Sans"/>
                <a:sym typeface="IBM Plex Sans"/>
              </a:rPr>
              <a:t>, 111956.</a:t>
            </a:r>
            <a:endParaRPr sz="1100">
              <a:solidFill>
                <a:schemeClr val="dk1"/>
              </a:solidFill>
              <a:latin typeface="IBM Plex Sans"/>
              <a:ea typeface="IBM Plex Sans"/>
              <a:cs typeface="IBM Plex Sans"/>
              <a:sym typeface="IBM Plex Sans"/>
            </a:endParaRPr>
          </a:p>
          <a:p>
            <a:pPr indent="0" lvl="0" marL="0" rtl="0" algn="l">
              <a:lnSpc>
                <a:spcPct val="115000"/>
              </a:lnSpc>
              <a:spcBef>
                <a:spcPts val="1800"/>
              </a:spcBef>
              <a:spcAft>
                <a:spcPts val="0"/>
              </a:spcAft>
              <a:buNone/>
            </a:pPr>
            <a:r>
              <a:rPr lang="en" sz="1100">
                <a:solidFill>
                  <a:schemeClr val="dk1"/>
                </a:solidFill>
                <a:latin typeface="IBM Plex Sans"/>
                <a:ea typeface="IBM Plex Sans"/>
                <a:cs typeface="IBM Plex Sans"/>
                <a:sym typeface="IBM Plex Sans"/>
              </a:rPr>
              <a:t>Integration of Chemical Kinetics with ResNets</a:t>
            </a:r>
            <a:endParaRPr sz="1100">
              <a:solidFill>
                <a:schemeClr val="dk1"/>
              </a:solidFill>
              <a:latin typeface="IBM Plex Sans"/>
              <a:ea typeface="IBM Plex Sans"/>
              <a:cs typeface="IBM Plex Sans"/>
              <a:sym typeface="IBM Plex Sans"/>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IBM Plex Sans"/>
                <a:ea typeface="IBM Plex Sans"/>
                <a:cs typeface="IBM Plex Sans"/>
                <a:sym typeface="IBM Plex Sans"/>
              </a:rPr>
              <a:t>Nikitin, V. F., Zuev, B. K., &amp; Kashtanov, V. S. (1998). Combustion chemistry prediction using neural networks for multi-species reaction systems. </a:t>
            </a:r>
            <a:r>
              <a:rPr i="1" lang="en" sz="1100">
                <a:solidFill>
                  <a:schemeClr val="dk1"/>
                </a:solidFill>
                <a:latin typeface="IBM Plex Sans"/>
                <a:ea typeface="IBM Plex Sans"/>
                <a:cs typeface="IBM Plex Sans"/>
                <a:sym typeface="IBM Plex Sans"/>
              </a:rPr>
              <a:t>Mendeleev Communications, 8</a:t>
            </a:r>
            <a:r>
              <a:rPr lang="en" sz="1100">
                <a:solidFill>
                  <a:schemeClr val="dk1"/>
                </a:solidFill>
                <a:latin typeface="IBM Plex Sans"/>
                <a:ea typeface="IBM Plex Sans"/>
                <a:cs typeface="IBM Plex Sans"/>
                <a:sym typeface="IBM Plex Sans"/>
              </a:rPr>
              <a:t>(1), 35-36.</a:t>
            </a:r>
            <a:endParaRPr sz="1100">
              <a:solidFill>
                <a:schemeClr val="dk1"/>
              </a:solidFill>
              <a:latin typeface="IBM Plex Sans"/>
              <a:ea typeface="IBM Plex Sans"/>
              <a:cs typeface="IBM Plex Sans"/>
              <a:sym typeface="IBM Plex Sans"/>
            </a:endParaRPr>
          </a:p>
          <a:p>
            <a:pPr indent="0" lvl="0" marL="0" rtl="0" algn="l">
              <a:lnSpc>
                <a:spcPct val="115000"/>
              </a:lnSpc>
              <a:spcBef>
                <a:spcPts val="1800"/>
              </a:spcBef>
              <a:spcAft>
                <a:spcPts val="0"/>
              </a:spcAft>
              <a:buNone/>
            </a:pPr>
            <a:r>
              <a:rPr lang="en" sz="1100">
                <a:solidFill>
                  <a:schemeClr val="dk1"/>
                </a:solidFill>
                <a:latin typeface="IBM Plex Sans"/>
                <a:ea typeface="IBM Plex Sans"/>
                <a:cs typeface="IBM Plex Sans"/>
                <a:sym typeface="IBM Plex Sans"/>
              </a:rPr>
              <a:t>Helpful YouTube Videos</a:t>
            </a:r>
            <a:endParaRPr sz="1100">
              <a:solidFill>
                <a:schemeClr val="dk1"/>
              </a:solidFill>
              <a:latin typeface="IBM Plex Sans"/>
              <a:ea typeface="IBM Plex Sans"/>
              <a:cs typeface="IBM Plex Sans"/>
              <a:sym typeface="IBM Plex Sans"/>
            </a:endParaRPr>
          </a:p>
          <a:p>
            <a:pPr indent="-298450" lvl="0" marL="457200" rtl="0" algn="l">
              <a:lnSpc>
                <a:spcPct val="115000"/>
              </a:lnSpc>
              <a:spcBef>
                <a:spcPts val="1200"/>
              </a:spcBef>
              <a:spcAft>
                <a:spcPts val="0"/>
              </a:spcAft>
              <a:buClr>
                <a:schemeClr val="dk1"/>
              </a:buClr>
              <a:buSzPts val="1100"/>
              <a:buFont typeface="IBM Plex Sans"/>
              <a:buChar char="●"/>
            </a:pPr>
            <a:r>
              <a:rPr lang="en" sz="1100">
                <a:solidFill>
                  <a:schemeClr val="dk1"/>
                </a:solidFill>
                <a:latin typeface="IBM Plex Sans"/>
                <a:ea typeface="IBM Plex Sans"/>
                <a:cs typeface="IBM Plex Sans"/>
                <a:sym typeface="IBM Plex Sans"/>
              </a:rPr>
              <a:t>Brunton, S. (2021, October 29). </a:t>
            </a:r>
            <a:r>
              <a:rPr i="1" lang="en" sz="1100">
                <a:solidFill>
                  <a:schemeClr val="dk1"/>
                </a:solidFill>
                <a:latin typeface="IBM Plex Sans"/>
                <a:ea typeface="IBM Plex Sans"/>
                <a:cs typeface="IBM Plex Sans"/>
                <a:sym typeface="IBM Plex Sans"/>
              </a:rPr>
              <a:t>Neural ODEs (NODEs) [Physics Informed Machine Learning]</a:t>
            </a:r>
            <a:r>
              <a:rPr lang="en" sz="1100">
                <a:solidFill>
                  <a:schemeClr val="dk1"/>
                </a:solidFill>
                <a:latin typeface="IBM Plex Sans"/>
                <a:ea typeface="IBM Plex Sans"/>
                <a:cs typeface="IBM Plex Sans"/>
                <a:sym typeface="IBM Plex Sans"/>
              </a:rPr>
              <a:t>. YouTube.</a:t>
            </a:r>
            <a:r>
              <a:rPr lang="en" sz="1100">
                <a:solidFill>
                  <a:schemeClr val="dk1"/>
                </a:solidFill>
                <a:uFill>
                  <a:noFill/>
                </a:uFill>
                <a:latin typeface="IBM Plex Sans"/>
                <a:ea typeface="IBM Plex Sans"/>
                <a:cs typeface="IBM Plex Sans"/>
                <a:sym typeface="IBM Plex Sans"/>
                <a:hlinkClick r:id="rId3">
                  <a:extLst>
                    <a:ext uri="{A12FA001-AC4F-418D-AE19-62706E023703}">
                      <ahyp:hlinkClr val="tx"/>
                    </a:ext>
                  </a:extLst>
                </a:hlinkClick>
              </a:rPr>
              <a:t> </a:t>
            </a:r>
            <a:r>
              <a:rPr lang="en" sz="1100" u="sng">
                <a:solidFill>
                  <a:schemeClr val="dk1"/>
                </a:solidFill>
                <a:latin typeface="IBM Plex Sans"/>
                <a:ea typeface="IBM Plex Sans"/>
                <a:cs typeface="IBM Plex Sans"/>
                <a:sym typeface="IBM Plex Sans"/>
                <a:hlinkClick r:id="rId4">
                  <a:extLst>
                    <a:ext uri="{A12FA001-AC4F-418D-AE19-62706E023703}">
                      <ahyp:hlinkClr val="tx"/>
                    </a:ext>
                  </a:extLst>
                </a:hlinkClick>
              </a:rPr>
              <a:t>https://www.youtube.com/watch?v=nJphsM4obOk</a:t>
            </a:r>
            <a:endParaRPr sz="1100" u="sng">
              <a:solidFill>
                <a:schemeClr val="dk1"/>
              </a:solidFill>
              <a:latin typeface="IBM Plex Sans"/>
              <a:ea typeface="IBM Plex Sans"/>
              <a:cs typeface="IBM Plex Sans"/>
              <a:sym typeface="IBM Plex Sans"/>
            </a:endParaRPr>
          </a:p>
          <a:p>
            <a:pPr indent="-298450" lvl="0" marL="457200" rtl="0" algn="l">
              <a:lnSpc>
                <a:spcPct val="115000"/>
              </a:lnSpc>
              <a:spcBef>
                <a:spcPts val="0"/>
              </a:spcBef>
              <a:spcAft>
                <a:spcPts val="0"/>
              </a:spcAft>
              <a:buClr>
                <a:schemeClr val="dk1"/>
              </a:buClr>
              <a:buSzPts val="1100"/>
              <a:buFont typeface="IBM Plex Sans"/>
              <a:buChar char="●"/>
            </a:pPr>
            <a:r>
              <a:rPr lang="en" sz="1100">
                <a:solidFill>
                  <a:schemeClr val="dk1"/>
                </a:solidFill>
                <a:latin typeface="IBM Plex Sans"/>
                <a:ea typeface="IBM Plex Sans"/>
                <a:cs typeface="IBM Plex Sans"/>
                <a:sym typeface="IBM Plex Sans"/>
              </a:rPr>
              <a:t>Computational Sciences. (2021, March 11). </a:t>
            </a:r>
            <a:r>
              <a:rPr i="1" lang="en" sz="1100">
                <a:solidFill>
                  <a:schemeClr val="dk1"/>
                </a:solidFill>
                <a:latin typeface="IBM Plex Sans"/>
                <a:ea typeface="IBM Plex Sans"/>
                <a:cs typeface="IBM Plex Sans"/>
                <a:sym typeface="IBM Plex Sans"/>
              </a:rPr>
              <a:t>Adjoint State Method for an ODE | Adjoint Sensitivity Analysis</a:t>
            </a:r>
            <a:r>
              <a:rPr lang="en" sz="1100">
                <a:solidFill>
                  <a:schemeClr val="dk1"/>
                </a:solidFill>
                <a:latin typeface="IBM Plex Sans"/>
                <a:ea typeface="IBM Plex Sans"/>
                <a:cs typeface="IBM Plex Sans"/>
                <a:sym typeface="IBM Plex Sans"/>
              </a:rPr>
              <a:t>. YouTube.</a:t>
            </a:r>
            <a:r>
              <a:rPr lang="en" sz="1100">
                <a:solidFill>
                  <a:schemeClr val="dk1"/>
                </a:solidFill>
                <a:uFill>
                  <a:noFill/>
                </a:uFill>
                <a:latin typeface="IBM Plex Sans"/>
                <a:ea typeface="IBM Plex Sans"/>
                <a:cs typeface="IBM Plex Sans"/>
                <a:sym typeface="IBM Plex Sans"/>
                <a:hlinkClick r:id="rId5">
                  <a:extLst>
                    <a:ext uri="{A12FA001-AC4F-418D-AE19-62706E023703}">
                      <ahyp:hlinkClr val="tx"/>
                    </a:ext>
                  </a:extLst>
                </a:hlinkClick>
              </a:rPr>
              <a:t> </a:t>
            </a:r>
            <a:r>
              <a:rPr lang="en" sz="1100" u="sng">
                <a:solidFill>
                  <a:schemeClr val="dk1"/>
                </a:solidFill>
                <a:latin typeface="IBM Plex Sans"/>
                <a:ea typeface="IBM Plex Sans"/>
                <a:cs typeface="IBM Plex Sans"/>
                <a:sym typeface="IBM Plex Sans"/>
                <a:hlinkClick r:id="rId6">
                  <a:extLst>
                    <a:ext uri="{A12FA001-AC4F-418D-AE19-62706E023703}">
                      <ahyp:hlinkClr val="tx"/>
                    </a:ext>
                  </a:extLst>
                </a:hlinkClick>
              </a:rPr>
              <a:t>https://www.youtube.com/watch?v=k6s2G5MZv-I</a:t>
            </a:r>
            <a:endParaRPr sz="1100" u="sng">
              <a:solidFill>
                <a:schemeClr val="dk1"/>
              </a:solidFill>
              <a:latin typeface="IBM Plex Sans"/>
              <a:ea typeface="IBM Plex Sans"/>
              <a:cs typeface="IBM Plex Sans"/>
              <a:sym typeface="IBM Plex Sans"/>
            </a:endParaRPr>
          </a:p>
          <a:p>
            <a:pPr indent="0" lvl="0" marL="0" rtl="0" algn="l">
              <a:spcBef>
                <a:spcPts val="1200"/>
              </a:spcBef>
              <a:spcAft>
                <a:spcPts val="0"/>
              </a:spcAft>
              <a:buNone/>
            </a:pPr>
            <a:r>
              <a:t/>
            </a:r>
            <a:endParaRPr sz="1100">
              <a:solidFill>
                <a:schemeClr val="dk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59"/>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